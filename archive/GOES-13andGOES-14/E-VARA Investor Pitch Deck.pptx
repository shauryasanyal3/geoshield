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6858000" cx="12192000"/>
  <p:notesSz cx="6858000" cy="9144000"/>
  <p:embeddedFontLst>
    <p:embeddedFont>
      <p:font typeface="Plus Jakarta Sans"/>
      <p:regular r:id="rId13"/>
      <p:bold r:id="rId14"/>
      <p:italic r:id="rId15"/>
      <p:boldItalic r:id="rId16"/>
    </p:embeddedFont>
    <p:embeddedFont>
      <p:font typeface="Plus Jakarta Sans SemiBold"/>
      <p:regular r:id="rId17"/>
      <p:bold r:id="rId18"/>
      <p:italic r:id="rId19"/>
      <p:boldItalic r:id="rId20"/>
    </p:embeddedFont>
    <p:embeddedFont>
      <p:font typeface="Space Grotesk SemiBold"/>
      <p:regular r:id="rId21"/>
      <p:bold r:id="rId22"/>
    </p:embeddedFont>
    <p:embeddedFont>
      <p:font typeface="Space Grotesk"/>
      <p:regular r:id="rId23"/>
      <p:bold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lusJakartaSansSemiBold-boldItalic.fntdata"/><Relationship Id="rId11" Type="http://schemas.openxmlformats.org/officeDocument/2006/relationships/slide" Target="slides/slide6.xml"/><Relationship Id="rId22" Type="http://schemas.openxmlformats.org/officeDocument/2006/relationships/font" Target="fonts/SpaceGroteskSemiBold-bold.fntdata"/><Relationship Id="rId10" Type="http://schemas.openxmlformats.org/officeDocument/2006/relationships/slide" Target="slides/slide5.xml"/><Relationship Id="rId21" Type="http://schemas.openxmlformats.org/officeDocument/2006/relationships/font" Target="fonts/SpaceGroteskSemiBold-regular.fntdata"/><Relationship Id="rId13" Type="http://schemas.openxmlformats.org/officeDocument/2006/relationships/font" Target="fonts/PlusJakartaSans-regular.fntdata"/><Relationship Id="rId24" Type="http://schemas.openxmlformats.org/officeDocument/2006/relationships/font" Target="fonts/SpaceGrotesk-bold.fntdata"/><Relationship Id="rId12" Type="http://schemas.openxmlformats.org/officeDocument/2006/relationships/slide" Target="slides/slide7.xml"/><Relationship Id="rId23" Type="http://schemas.openxmlformats.org/officeDocument/2006/relationships/font" Target="fonts/SpaceGrotesk-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PlusJakartaSans-italic.fntdata"/><Relationship Id="rId14" Type="http://schemas.openxmlformats.org/officeDocument/2006/relationships/font" Target="fonts/PlusJakartaSans-bold.fntdata"/><Relationship Id="rId17" Type="http://schemas.openxmlformats.org/officeDocument/2006/relationships/font" Target="fonts/PlusJakartaSansSemiBold-regular.fntdata"/><Relationship Id="rId16" Type="http://schemas.openxmlformats.org/officeDocument/2006/relationships/font" Target="fonts/PlusJakartaSans-boldItalic.fntdata"/><Relationship Id="rId5" Type="http://schemas.openxmlformats.org/officeDocument/2006/relationships/notesMaster" Target="notesMasters/notesMaster1.xml"/><Relationship Id="rId19" Type="http://schemas.openxmlformats.org/officeDocument/2006/relationships/font" Target="fonts/PlusJakartaSansSemiBold-italic.fntdata"/><Relationship Id="rId6" Type="http://schemas.openxmlformats.org/officeDocument/2006/relationships/slide" Target="slides/slide1.xml"/><Relationship Id="rId18" Type="http://schemas.openxmlformats.org/officeDocument/2006/relationships/font" Target="fonts/PlusJakartaSansSemiBold-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2.png"/><Relationship Id="rId6"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23.png"/><Relationship Id="rId10" Type="http://schemas.openxmlformats.org/officeDocument/2006/relationships/image" Target="../media/image24.png"/><Relationship Id="rId9" Type="http://schemas.openxmlformats.org/officeDocument/2006/relationships/image" Target="../media/image4.png"/><Relationship Id="rId5" Type="http://schemas.openxmlformats.org/officeDocument/2006/relationships/image" Target="../media/image2.png"/><Relationship Id="rId6" Type="http://schemas.openxmlformats.org/officeDocument/2006/relationships/image" Target="../media/image3.png"/><Relationship Id="rId7" Type="http://schemas.openxmlformats.org/officeDocument/2006/relationships/image" Target="../media/image9.png"/><Relationship Id="rId8"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25.png"/><Relationship Id="rId5" Type="http://schemas.openxmlformats.org/officeDocument/2006/relationships/image" Target="../media/image8.png"/><Relationship Id="rId6" Type="http://schemas.openxmlformats.org/officeDocument/2006/relationships/image" Target="../media/image3.png"/><Relationship Id="rId7" Type="http://schemas.openxmlformats.org/officeDocument/2006/relationships/image" Target="../media/image14.png"/><Relationship Id="rId8" Type="http://schemas.openxmlformats.org/officeDocument/2006/relationships/image" Target="../media/image6.png"/></Relationships>
</file>

<file path=ppt/slides/_rels/slide4.xml.rels><?xml version="1.0" encoding="UTF-8" standalone="yes"?><Relationships xmlns="http://schemas.openxmlformats.org/package/2006/relationships"><Relationship Id="rId11" Type="http://schemas.openxmlformats.org/officeDocument/2006/relationships/image" Target="../media/image26.png"/><Relationship Id="rId10" Type="http://schemas.openxmlformats.org/officeDocument/2006/relationships/image" Target="../media/image19.png"/><Relationship Id="rId13" Type="http://schemas.openxmlformats.org/officeDocument/2006/relationships/image" Target="../media/image20.png"/><Relationship Id="rId12"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13.png"/><Relationship Id="rId9" Type="http://schemas.openxmlformats.org/officeDocument/2006/relationships/image" Target="../media/image11.png"/><Relationship Id="rId5" Type="http://schemas.openxmlformats.org/officeDocument/2006/relationships/image" Target="../media/image18.png"/><Relationship Id="rId6" Type="http://schemas.openxmlformats.org/officeDocument/2006/relationships/image" Target="../media/image2.png"/><Relationship Id="rId7" Type="http://schemas.openxmlformats.org/officeDocument/2006/relationships/image" Target="../media/image3.png"/><Relationship Id="rId8"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21.png"/><Relationship Id="rId5" Type="http://schemas.openxmlformats.org/officeDocument/2006/relationships/image" Target="../media/image2.png"/><Relationship Id="rId6"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15.png"/><Relationship Id="rId5" Type="http://schemas.openxmlformats.org/officeDocument/2006/relationships/image" Target="../media/image2.png"/><Relationship Id="rId6"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16.png"/><Relationship Id="rId5" Type="http://schemas.openxmlformats.org/officeDocument/2006/relationships/image" Target="../media/image2.png"/><Relationship Id="rId6" Type="http://schemas.openxmlformats.org/officeDocument/2006/relationships/image" Target="../media/image3.png"/><Relationship Id="rId7" Type="http://schemas.openxmlformats.org/officeDocument/2006/relationships/image" Target="../media/image22.png"/><Relationship Id="rId8"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85" name="Google Shape;85;p13"/>
          <p:cNvPicPr preferRelativeResize="0"/>
          <p:nvPr/>
        </p:nvPicPr>
        <p:blipFill rotWithShape="1">
          <a:blip r:embed="rId4">
            <a:alphaModFix/>
          </a:blip>
          <a:srcRect b="0" l="0" r="0" t="0"/>
          <a:stretch/>
        </p:blipFill>
        <p:spPr>
          <a:xfrm>
            <a:off x="676275" y="1807815"/>
            <a:ext cx="1190625" cy="295275"/>
          </a:xfrm>
          <a:prstGeom prst="rect">
            <a:avLst/>
          </a:prstGeom>
          <a:noFill/>
          <a:ln>
            <a:noFill/>
          </a:ln>
        </p:spPr>
      </p:pic>
      <p:pic>
        <p:nvPicPr>
          <p:cNvPr descr="image.png" id="86" name="Google Shape;86;p13"/>
          <p:cNvPicPr preferRelativeResize="0"/>
          <p:nvPr/>
        </p:nvPicPr>
        <p:blipFill rotWithShape="1">
          <a:blip r:embed="rId5">
            <a:alphaModFix/>
          </a:blip>
          <a:srcRect b="0" l="0" r="0" t="0"/>
          <a:stretch/>
        </p:blipFill>
        <p:spPr>
          <a:xfrm>
            <a:off x="9525" y="6107608"/>
            <a:ext cx="12172950" cy="740866"/>
          </a:xfrm>
          <a:prstGeom prst="rect">
            <a:avLst/>
          </a:prstGeom>
          <a:noFill/>
          <a:ln>
            <a:noFill/>
          </a:ln>
        </p:spPr>
      </p:pic>
      <p:sp>
        <p:nvSpPr>
          <p:cNvPr id="87" name="Google Shape;87;p13"/>
          <p:cNvSpPr txBox="1"/>
          <p:nvPr/>
        </p:nvSpPr>
        <p:spPr>
          <a:xfrm>
            <a:off x="676275" y="2293590"/>
            <a:ext cx="2085104" cy="67047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4800" u="none" cap="none" strike="noStrike">
                <a:solidFill>
                  <a:srgbClr val="FFFFFF"/>
                </a:solidFill>
                <a:latin typeface="Space Grotesk"/>
                <a:ea typeface="Space Grotesk"/>
                <a:cs typeface="Space Grotesk"/>
                <a:sym typeface="Space Grotesk"/>
              </a:rPr>
              <a:t>E-VARA</a:t>
            </a:r>
            <a:endParaRPr/>
          </a:p>
        </p:txBody>
      </p:sp>
      <p:sp>
        <p:nvSpPr>
          <p:cNvPr id="88" name="Google Shape;88;p13"/>
          <p:cNvSpPr txBox="1"/>
          <p:nvPr/>
        </p:nvSpPr>
        <p:spPr>
          <a:xfrm>
            <a:off x="676275" y="3106935"/>
            <a:ext cx="5238750" cy="37147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950" u="none" cap="none" strike="noStrike">
                <a:solidFill>
                  <a:srgbClr val="FFFFFF"/>
                </a:solidFill>
                <a:latin typeface="Space Grotesk"/>
                <a:ea typeface="Space Grotesk"/>
                <a:cs typeface="Space Grotesk"/>
                <a:sym typeface="Space Grotesk"/>
              </a:rPr>
              <a:t>Privacy-First Executive Identity Intelligence</a:t>
            </a:r>
            <a:endParaRPr/>
          </a:p>
        </p:txBody>
      </p:sp>
      <p:sp>
        <p:nvSpPr>
          <p:cNvPr id="89" name="Google Shape;89;p13"/>
          <p:cNvSpPr txBox="1"/>
          <p:nvPr/>
        </p:nvSpPr>
        <p:spPr>
          <a:xfrm>
            <a:off x="676275" y="3621285"/>
            <a:ext cx="7620000" cy="8572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9CA3AF"/>
                </a:solidFill>
                <a:latin typeface="Plus Jakarta Sans"/>
                <a:ea typeface="Plus Jakarta Sans"/>
                <a:cs typeface="Plus Jakarta Sans"/>
                <a:sym typeface="Plus Jakarta Sans"/>
              </a:rPr>
              <a:t>Understanding trust instead of just collecting data. Modern threat surface analysis, zero-trust monitoring, and institutional-grade protection built for the modern enterprise.</a:t>
            </a:r>
            <a:endParaRPr/>
          </a:p>
        </p:txBody>
      </p:sp>
      <p:sp>
        <p:nvSpPr>
          <p:cNvPr id="90" name="Google Shape;90;p13"/>
          <p:cNvSpPr txBox="1"/>
          <p:nvPr/>
        </p:nvSpPr>
        <p:spPr>
          <a:xfrm>
            <a:off x="533400" y="6231433"/>
            <a:ext cx="11363325" cy="1333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825" u="none" cap="none" strike="noStrike">
                <a:solidFill>
                  <a:srgbClr val="14B8A6"/>
                </a:solidFill>
                <a:latin typeface="Space Grotesk"/>
                <a:ea typeface="Space Grotesk"/>
                <a:cs typeface="Space Grotesk"/>
                <a:sym typeface="Space Grotesk"/>
              </a:rPr>
              <a:t>SPEAKER NOTES</a:t>
            </a:r>
            <a:endParaRPr/>
          </a:p>
        </p:txBody>
      </p:sp>
      <p:sp>
        <p:nvSpPr>
          <p:cNvPr id="91" name="Google Shape;91;p13"/>
          <p:cNvSpPr txBox="1"/>
          <p:nvPr/>
        </p:nvSpPr>
        <p:spPr>
          <a:xfrm>
            <a:off x="295275" y="6402883"/>
            <a:ext cx="11601450" cy="331291"/>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0" i="0" lang="en-US" sz="900" u="none" cap="none" strike="noStrike">
                <a:solidFill>
                  <a:srgbClr val="9CA3AF"/>
                </a:solidFill>
                <a:latin typeface="Plus Jakarta Sans"/>
                <a:ea typeface="Plus Jakarta Sans"/>
                <a:cs typeface="Plus Jakarta Sans"/>
                <a:sym typeface="Plus Jakarta Sans"/>
              </a:rPr>
              <a:t>Welcome, everyone. We are here today to present E-VARA. Today's standard enterprise security perimeter stops at the firewalls, yet the most critical vulnerabilities lie in plain sight: the digital identity footprint of our founders, executives, and leaders. E-VARA is designed from the ground up to solve this massive exposure blind spot without compromising fundamental user privacy.</a:t>
            </a:r>
            <a:endParaRPr/>
          </a:p>
        </p:txBody>
      </p:sp>
      <p:pic>
        <p:nvPicPr>
          <p:cNvPr descr="image.png" id="92" name="Google Shape;92;p13"/>
          <p:cNvPicPr preferRelativeResize="0"/>
          <p:nvPr/>
        </p:nvPicPr>
        <p:blipFill rotWithShape="1">
          <a:blip r:embed="rId6">
            <a:alphaModFix/>
          </a:blip>
          <a:srcRect b="0" l="0" r="0" t="0"/>
          <a:stretch/>
        </p:blipFill>
        <p:spPr>
          <a:xfrm>
            <a:off x="295275" y="6240958"/>
            <a:ext cx="161925" cy="1143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pic>
        <p:nvPicPr>
          <p:cNvPr descr="image.png" id="97" name="Google Shape;97;p1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98" name="Google Shape;98;p14"/>
          <p:cNvPicPr preferRelativeResize="0"/>
          <p:nvPr/>
        </p:nvPicPr>
        <p:blipFill rotWithShape="1">
          <a:blip r:embed="rId4">
            <a:alphaModFix/>
          </a:blip>
          <a:srcRect b="0" l="0" r="0" t="0"/>
          <a:stretch/>
        </p:blipFill>
        <p:spPr>
          <a:xfrm>
            <a:off x="6286500" y="1931640"/>
            <a:ext cx="5229225" cy="3143250"/>
          </a:xfrm>
          <a:prstGeom prst="rect">
            <a:avLst/>
          </a:prstGeom>
          <a:noFill/>
          <a:ln>
            <a:noFill/>
          </a:ln>
        </p:spPr>
      </p:pic>
      <p:pic>
        <p:nvPicPr>
          <p:cNvPr descr="image.png" id="99" name="Google Shape;99;p14"/>
          <p:cNvPicPr preferRelativeResize="0"/>
          <p:nvPr/>
        </p:nvPicPr>
        <p:blipFill rotWithShape="1">
          <a:blip r:embed="rId5">
            <a:alphaModFix/>
          </a:blip>
          <a:srcRect b="0" l="0" r="0" t="0"/>
          <a:stretch/>
        </p:blipFill>
        <p:spPr>
          <a:xfrm>
            <a:off x="9525" y="6107608"/>
            <a:ext cx="12172950" cy="740866"/>
          </a:xfrm>
          <a:prstGeom prst="rect">
            <a:avLst/>
          </a:prstGeom>
          <a:noFill/>
          <a:ln>
            <a:noFill/>
          </a:ln>
        </p:spPr>
      </p:pic>
      <p:sp>
        <p:nvSpPr>
          <p:cNvPr id="100" name="Google Shape;100;p14"/>
          <p:cNvSpPr txBox="1"/>
          <p:nvPr/>
        </p:nvSpPr>
        <p:spPr>
          <a:xfrm>
            <a:off x="533400" y="6231433"/>
            <a:ext cx="11363325" cy="1333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825" u="none" cap="none" strike="noStrike">
                <a:solidFill>
                  <a:srgbClr val="14B8A6"/>
                </a:solidFill>
                <a:latin typeface="Space Grotesk"/>
                <a:ea typeface="Space Grotesk"/>
                <a:cs typeface="Space Grotesk"/>
                <a:sym typeface="Space Grotesk"/>
              </a:rPr>
              <a:t>SPEAKER NOTES</a:t>
            </a:r>
            <a:endParaRPr/>
          </a:p>
        </p:txBody>
      </p:sp>
      <p:sp>
        <p:nvSpPr>
          <p:cNvPr id="101" name="Google Shape;101;p14"/>
          <p:cNvSpPr txBox="1"/>
          <p:nvPr/>
        </p:nvSpPr>
        <p:spPr>
          <a:xfrm>
            <a:off x="295275" y="6402883"/>
            <a:ext cx="11601450" cy="331291"/>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0" i="0" lang="en-US" sz="900" u="none" cap="none" strike="noStrike">
                <a:solidFill>
                  <a:srgbClr val="9CA3AF"/>
                </a:solidFill>
                <a:latin typeface="Plus Jakarta Sans"/>
                <a:ea typeface="Plus Jakarta Sans"/>
                <a:cs typeface="Plus Jakarta Sans"/>
                <a:sym typeface="Plus Jakarta Sans"/>
              </a:rPr>
              <a:t>Let's look at the problem. Attackers are shifting from secure endpoints to personal vulnerabilities. However, current options fail. They either demand full administrative access to private profiles—violating trust—or they dump raw data without analysis. Securing leaders shouldn't require violating their digital sovereignty. E-VARA changes this dynamic entirely.</a:t>
            </a:r>
            <a:endParaRPr/>
          </a:p>
        </p:txBody>
      </p:sp>
      <p:pic>
        <p:nvPicPr>
          <p:cNvPr descr="image.png" id="102" name="Google Shape;102;p14"/>
          <p:cNvPicPr preferRelativeResize="0"/>
          <p:nvPr/>
        </p:nvPicPr>
        <p:blipFill rotWithShape="1">
          <a:blip r:embed="rId6">
            <a:alphaModFix/>
          </a:blip>
          <a:srcRect b="0" l="0" r="0" t="0"/>
          <a:stretch/>
        </p:blipFill>
        <p:spPr>
          <a:xfrm>
            <a:off x="295275" y="6240958"/>
            <a:ext cx="161925" cy="114300"/>
          </a:xfrm>
          <a:prstGeom prst="rect">
            <a:avLst/>
          </a:prstGeom>
          <a:noFill/>
          <a:ln>
            <a:noFill/>
          </a:ln>
        </p:spPr>
      </p:pic>
      <p:sp>
        <p:nvSpPr>
          <p:cNvPr id="103" name="Google Shape;103;p14"/>
          <p:cNvSpPr txBox="1"/>
          <p:nvPr/>
        </p:nvSpPr>
        <p:spPr>
          <a:xfrm>
            <a:off x="1009650" y="2149078"/>
            <a:ext cx="4895850" cy="73134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FFFFFF"/>
                </a:solidFill>
                <a:latin typeface="Plus Jakarta Sans SemiBold"/>
                <a:ea typeface="Plus Jakarta Sans SemiBold"/>
                <a:cs typeface="Plus Jakarta Sans SemiBold"/>
                <a:sym typeface="Plus Jakarta Sans SemiBold"/>
              </a:rPr>
              <a:t>Expanded Exposure Vectors:</a:t>
            </a:r>
            <a:r>
              <a:rPr b="0" i="0" lang="en-US" sz="1200" u="none" cap="none" strike="noStrike">
                <a:solidFill>
                  <a:srgbClr val="9CA3AF"/>
                </a:solidFill>
                <a:latin typeface="Plus Jakarta Sans"/>
                <a:ea typeface="Plus Jakarta Sans"/>
                <a:cs typeface="Plus Jakarta Sans"/>
                <a:sym typeface="Plus Jakarta Sans"/>
              </a:rPr>
              <a:t> Modern attackers bypass corporate servers to target executives, founders, and public teams directly on personal networks.</a:t>
            </a:r>
            <a:endParaRPr/>
          </a:p>
        </p:txBody>
      </p:sp>
      <p:sp>
        <p:nvSpPr>
          <p:cNvPr id="104" name="Google Shape;104;p14"/>
          <p:cNvSpPr txBox="1"/>
          <p:nvPr/>
        </p:nvSpPr>
        <p:spPr>
          <a:xfrm>
            <a:off x="1009650" y="3051869"/>
            <a:ext cx="4895850" cy="73134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FFFFFF"/>
                </a:solidFill>
                <a:latin typeface="Plus Jakarta Sans SemiBold"/>
                <a:ea typeface="Plus Jakarta Sans SemiBold"/>
                <a:cs typeface="Plus Jakarta Sans SemiBold"/>
                <a:sym typeface="Plus Jakarta Sans SemiBold"/>
              </a:rPr>
              <a:t>Legacy Privacy Violations:</a:t>
            </a:r>
            <a:r>
              <a:rPr b="0" i="0" lang="en-US" sz="1200" u="none" cap="none" strike="noStrike">
                <a:solidFill>
                  <a:srgbClr val="9CA3AF"/>
                </a:solidFill>
                <a:latin typeface="Plus Jakarta Sans"/>
                <a:ea typeface="Plus Jakarta Sans"/>
                <a:cs typeface="Plus Jakarta Sans"/>
                <a:sym typeface="Plus Jakarta Sans"/>
              </a:rPr>
              <a:t> Current legacy security solutions demand intrusive, raw private credentials to monitor exposure, breaking data trust.</a:t>
            </a:r>
            <a:endParaRPr/>
          </a:p>
        </p:txBody>
      </p:sp>
      <p:sp>
        <p:nvSpPr>
          <p:cNvPr id="105" name="Google Shape;105;p14"/>
          <p:cNvSpPr txBox="1"/>
          <p:nvPr/>
        </p:nvSpPr>
        <p:spPr>
          <a:xfrm>
            <a:off x="1009650" y="3954660"/>
            <a:ext cx="4895850" cy="73134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FFFFFF"/>
                </a:solidFill>
                <a:latin typeface="Plus Jakarta Sans SemiBold"/>
                <a:ea typeface="Plus Jakarta Sans SemiBold"/>
                <a:cs typeface="Plus Jakarta Sans SemiBold"/>
                <a:sym typeface="Plus Jakarta Sans SemiBold"/>
              </a:rPr>
              <a:t>Unusable Intelligence:</a:t>
            </a:r>
            <a:r>
              <a:rPr b="0" i="0" lang="en-US" sz="1200" u="none" cap="none" strike="noStrike">
                <a:solidFill>
                  <a:srgbClr val="9CA3AF"/>
                </a:solidFill>
                <a:latin typeface="Plus Jakarta Sans"/>
                <a:ea typeface="Plus Jakarta Sans"/>
                <a:cs typeface="Plus Jakarta Sans"/>
                <a:sym typeface="Plus Jakarta Sans"/>
              </a:rPr>
              <a:t> Security teams receive chaotic data dumps rather than digestible, actionable, executive-grade intelligence reports.</a:t>
            </a:r>
            <a:endParaRPr/>
          </a:p>
        </p:txBody>
      </p:sp>
      <p:pic>
        <p:nvPicPr>
          <p:cNvPr descr="image.png" id="106" name="Google Shape;106;p14"/>
          <p:cNvPicPr preferRelativeResize="0"/>
          <p:nvPr/>
        </p:nvPicPr>
        <p:blipFill rotWithShape="1">
          <a:blip r:embed="rId7">
            <a:alphaModFix/>
          </a:blip>
          <a:srcRect b="0" l="0" r="0" t="0"/>
          <a:stretch/>
        </p:blipFill>
        <p:spPr>
          <a:xfrm>
            <a:off x="6296025" y="1941165"/>
            <a:ext cx="5210175" cy="3124200"/>
          </a:xfrm>
          <a:prstGeom prst="rect">
            <a:avLst/>
          </a:prstGeom>
          <a:noFill/>
          <a:ln>
            <a:noFill/>
          </a:ln>
        </p:spPr>
      </p:pic>
      <p:pic>
        <p:nvPicPr>
          <p:cNvPr descr="image.png" id="107" name="Google Shape;107;p14"/>
          <p:cNvPicPr preferRelativeResize="0"/>
          <p:nvPr/>
        </p:nvPicPr>
        <p:blipFill rotWithShape="1">
          <a:blip r:embed="rId8">
            <a:alphaModFix/>
          </a:blip>
          <a:srcRect b="0" l="0" r="0" t="0"/>
          <a:stretch/>
        </p:blipFill>
        <p:spPr>
          <a:xfrm>
            <a:off x="676275" y="2163365"/>
            <a:ext cx="190500" cy="200025"/>
          </a:xfrm>
          <a:prstGeom prst="rect">
            <a:avLst/>
          </a:prstGeom>
          <a:noFill/>
          <a:ln>
            <a:noFill/>
          </a:ln>
        </p:spPr>
      </p:pic>
      <p:pic>
        <p:nvPicPr>
          <p:cNvPr descr="image.png" id="108" name="Google Shape;108;p14"/>
          <p:cNvPicPr preferRelativeResize="0"/>
          <p:nvPr/>
        </p:nvPicPr>
        <p:blipFill rotWithShape="1">
          <a:blip r:embed="rId9">
            <a:alphaModFix/>
          </a:blip>
          <a:srcRect b="0" l="0" r="0" t="0"/>
          <a:stretch/>
        </p:blipFill>
        <p:spPr>
          <a:xfrm>
            <a:off x="676275" y="3066157"/>
            <a:ext cx="238125" cy="200025"/>
          </a:xfrm>
          <a:prstGeom prst="rect">
            <a:avLst/>
          </a:prstGeom>
          <a:noFill/>
          <a:ln>
            <a:noFill/>
          </a:ln>
        </p:spPr>
      </p:pic>
      <p:pic>
        <p:nvPicPr>
          <p:cNvPr descr="image.png" id="109" name="Google Shape;109;p14"/>
          <p:cNvPicPr preferRelativeResize="0"/>
          <p:nvPr/>
        </p:nvPicPr>
        <p:blipFill rotWithShape="1">
          <a:blip r:embed="rId10">
            <a:alphaModFix/>
          </a:blip>
          <a:srcRect b="0" l="0" r="0" t="0"/>
          <a:stretch/>
        </p:blipFill>
        <p:spPr>
          <a:xfrm>
            <a:off x="676275" y="3968948"/>
            <a:ext cx="142875" cy="200025"/>
          </a:xfrm>
          <a:prstGeom prst="rect">
            <a:avLst/>
          </a:prstGeom>
          <a:noFill/>
          <a:ln>
            <a:noFill/>
          </a:ln>
        </p:spPr>
      </p:pic>
      <p:sp>
        <p:nvSpPr>
          <p:cNvPr id="110" name="Google Shape;110;p14"/>
          <p:cNvSpPr txBox="1"/>
          <p:nvPr/>
        </p:nvSpPr>
        <p:spPr>
          <a:xfrm>
            <a:off x="819150" y="485775"/>
            <a:ext cx="11231403" cy="4342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2850" u="none" cap="none" strike="noStrike">
                <a:solidFill>
                  <a:srgbClr val="FFFFFF"/>
                </a:solidFill>
                <a:latin typeface="Space Grotesk"/>
                <a:ea typeface="Space Grotesk"/>
                <a:cs typeface="Space Grotesk"/>
                <a:sym typeface="Space Grotesk"/>
              </a:rPr>
              <a:t>The Executive Threat Surface</a:t>
            </a:r>
            <a:endParaRPr/>
          </a:p>
        </p:txBody>
      </p:sp>
      <p:sp>
        <p:nvSpPr>
          <p:cNvPr id="111" name="Google Shape;111;p14"/>
          <p:cNvSpPr/>
          <p:nvPr/>
        </p:nvSpPr>
        <p:spPr>
          <a:xfrm>
            <a:off x="676275" y="485775"/>
            <a:ext cx="38100" cy="434280"/>
          </a:xfrm>
          <a:prstGeom prst="rect">
            <a:avLst/>
          </a:prstGeom>
          <a:solidFill>
            <a:srgbClr val="14B8A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descr="image.png" id="116" name="Google Shape;116;p1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17" name="Google Shape;117;p15"/>
          <p:cNvPicPr preferRelativeResize="0"/>
          <p:nvPr/>
        </p:nvPicPr>
        <p:blipFill rotWithShape="1">
          <a:blip r:embed="rId4">
            <a:alphaModFix/>
          </a:blip>
          <a:srcRect b="0" l="0" r="0" t="0"/>
          <a:stretch/>
        </p:blipFill>
        <p:spPr>
          <a:xfrm>
            <a:off x="9525" y="6107608"/>
            <a:ext cx="12172950" cy="740866"/>
          </a:xfrm>
          <a:prstGeom prst="rect">
            <a:avLst/>
          </a:prstGeom>
          <a:noFill/>
          <a:ln>
            <a:noFill/>
          </a:ln>
        </p:spPr>
      </p:pic>
      <p:sp>
        <p:nvSpPr>
          <p:cNvPr id="118" name="Google Shape;118;p15"/>
          <p:cNvSpPr txBox="1"/>
          <p:nvPr/>
        </p:nvSpPr>
        <p:spPr>
          <a:xfrm>
            <a:off x="723900" y="581025"/>
            <a:ext cx="5040630" cy="86856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2850" u="none" cap="none" strike="noStrike">
                <a:solidFill>
                  <a:srgbClr val="FFFFFF"/>
                </a:solidFill>
                <a:latin typeface="Space Grotesk"/>
                <a:ea typeface="Space Grotesk"/>
                <a:cs typeface="Space Grotesk"/>
                <a:sym typeface="Space Grotesk"/>
              </a:rPr>
              <a:t>The Executive Defense Layer</a:t>
            </a:r>
            <a:endParaRPr/>
          </a:p>
        </p:txBody>
      </p:sp>
      <p:sp>
        <p:nvSpPr>
          <p:cNvPr id="119" name="Google Shape;119;p15"/>
          <p:cNvSpPr/>
          <p:nvPr/>
        </p:nvSpPr>
        <p:spPr>
          <a:xfrm>
            <a:off x="581025" y="581025"/>
            <a:ext cx="38100" cy="868560"/>
          </a:xfrm>
          <a:prstGeom prst="rect">
            <a:avLst/>
          </a:prstGeom>
          <a:solidFill>
            <a:srgbClr val="14B8A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20" name="Google Shape;120;p15"/>
          <p:cNvPicPr preferRelativeResize="0"/>
          <p:nvPr/>
        </p:nvPicPr>
        <p:blipFill rotWithShape="1">
          <a:blip r:embed="rId5">
            <a:alphaModFix/>
          </a:blip>
          <a:srcRect b="0" l="0" r="0" t="10258"/>
          <a:stretch/>
        </p:blipFill>
        <p:spPr>
          <a:xfrm>
            <a:off x="6096000" y="0"/>
            <a:ext cx="6086475" cy="6858000"/>
          </a:xfrm>
          <a:prstGeom prst="rect">
            <a:avLst/>
          </a:prstGeom>
          <a:noFill/>
          <a:ln>
            <a:noFill/>
          </a:ln>
        </p:spPr>
      </p:pic>
      <p:sp>
        <p:nvSpPr>
          <p:cNvPr id="121" name="Google Shape;121;p15"/>
          <p:cNvSpPr txBox="1"/>
          <p:nvPr/>
        </p:nvSpPr>
        <p:spPr>
          <a:xfrm>
            <a:off x="533400" y="6231433"/>
            <a:ext cx="11363325" cy="1333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825" u="none" cap="none" strike="noStrike">
                <a:solidFill>
                  <a:srgbClr val="14B8A6"/>
                </a:solidFill>
                <a:latin typeface="Space Grotesk"/>
                <a:ea typeface="Space Grotesk"/>
                <a:cs typeface="Space Grotesk"/>
                <a:sym typeface="Space Grotesk"/>
              </a:rPr>
              <a:t>SPEAKER NOTES</a:t>
            </a:r>
            <a:endParaRPr/>
          </a:p>
        </p:txBody>
      </p:sp>
      <p:sp>
        <p:nvSpPr>
          <p:cNvPr id="122" name="Google Shape;122;p15"/>
          <p:cNvSpPr txBox="1"/>
          <p:nvPr/>
        </p:nvSpPr>
        <p:spPr>
          <a:xfrm>
            <a:off x="295275" y="6402883"/>
            <a:ext cx="11601450" cy="331291"/>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0" i="0" lang="en-US" sz="900" u="none" cap="none" strike="noStrike">
                <a:solidFill>
                  <a:srgbClr val="9CA3AF"/>
                </a:solidFill>
                <a:latin typeface="Plus Jakarta Sans"/>
                <a:ea typeface="Plus Jakarta Sans"/>
                <a:cs typeface="Plus Jakarta Sans"/>
                <a:sym typeface="Plus Jakarta Sans"/>
              </a:rPr>
              <a:t>E-VARA introduces the ultimate Executive Defense Layer. It runs silently, verifying exposure vectors with explainable intelligence scores rather than vague, automated alerts. Crucially, operations can immediately compile polished dossiers to briefs decision-makers in real-time, matching executive-level standards.</a:t>
            </a:r>
            <a:endParaRPr/>
          </a:p>
        </p:txBody>
      </p:sp>
      <p:pic>
        <p:nvPicPr>
          <p:cNvPr descr="image.png" id="123" name="Google Shape;123;p15"/>
          <p:cNvPicPr preferRelativeResize="0"/>
          <p:nvPr/>
        </p:nvPicPr>
        <p:blipFill rotWithShape="1">
          <a:blip r:embed="rId6">
            <a:alphaModFix/>
          </a:blip>
          <a:srcRect b="0" l="0" r="0" t="0"/>
          <a:stretch/>
        </p:blipFill>
        <p:spPr>
          <a:xfrm>
            <a:off x="295275" y="6240958"/>
            <a:ext cx="161925" cy="114300"/>
          </a:xfrm>
          <a:prstGeom prst="rect">
            <a:avLst/>
          </a:prstGeom>
          <a:noFill/>
          <a:ln>
            <a:noFill/>
          </a:ln>
        </p:spPr>
      </p:pic>
      <p:sp>
        <p:nvSpPr>
          <p:cNvPr id="124" name="Google Shape;124;p15"/>
          <p:cNvSpPr txBox="1"/>
          <p:nvPr/>
        </p:nvSpPr>
        <p:spPr>
          <a:xfrm>
            <a:off x="914400" y="3017639"/>
            <a:ext cx="4610100" cy="4875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FFFFFF"/>
                </a:solidFill>
                <a:latin typeface="Plus Jakarta Sans SemiBold"/>
                <a:ea typeface="Plus Jakarta Sans SemiBold"/>
                <a:cs typeface="Plus Jakarta Sans SemiBold"/>
                <a:sym typeface="Plus Jakarta Sans SemiBold"/>
              </a:rPr>
              <a:t>Absolute Raw Data Privacy:</a:t>
            </a:r>
            <a:r>
              <a:rPr b="0" i="0" lang="en-US" sz="1200" u="none" cap="none" strike="noStrike">
                <a:solidFill>
                  <a:srgbClr val="9CA3AF"/>
                </a:solidFill>
                <a:latin typeface="Plus Jakarta Sans"/>
                <a:ea typeface="Plus Jakarta Sans"/>
                <a:cs typeface="Plus Jakarta Sans"/>
                <a:sym typeface="Plus Jakarta Sans"/>
              </a:rPr>
              <a:t> E-VARA never ingests or stores raw identifiers, guaranteeing absolute privacy.</a:t>
            </a:r>
            <a:endParaRPr/>
          </a:p>
        </p:txBody>
      </p:sp>
      <p:sp>
        <p:nvSpPr>
          <p:cNvPr id="125" name="Google Shape;125;p15"/>
          <p:cNvSpPr txBox="1"/>
          <p:nvPr/>
        </p:nvSpPr>
        <p:spPr>
          <a:xfrm>
            <a:off x="914400" y="3676650"/>
            <a:ext cx="4610100" cy="4875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FFFFFF"/>
                </a:solidFill>
                <a:latin typeface="Plus Jakarta Sans SemiBold"/>
                <a:ea typeface="Plus Jakarta Sans SemiBold"/>
                <a:cs typeface="Plus Jakarta Sans SemiBold"/>
                <a:sym typeface="Plus Jakarta Sans SemiBold"/>
              </a:rPr>
              <a:t>Explainable Threat Metrics:</a:t>
            </a:r>
            <a:r>
              <a:rPr b="0" i="0" lang="en-US" sz="1200" u="none" cap="none" strike="noStrike">
                <a:solidFill>
                  <a:srgbClr val="9CA3AF"/>
                </a:solidFill>
                <a:latin typeface="Plus Jakarta Sans"/>
                <a:ea typeface="Plus Jakarta Sans"/>
                <a:cs typeface="Plus Jakarta Sans"/>
                <a:sym typeface="Plus Jakarta Sans"/>
              </a:rPr>
              <a:t> Risk scoring translates threat telemetry into transparent, actionable intelligence.</a:t>
            </a:r>
            <a:endParaRPr/>
          </a:p>
        </p:txBody>
      </p:sp>
      <p:sp>
        <p:nvSpPr>
          <p:cNvPr id="126" name="Google Shape;126;p15"/>
          <p:cNvSpPr txBox="1"/>
          <p:nvPr/>
        </p:nvSpPr>
        <p:spPr>
          <a:xfrm>
            <a:off x="914400" y="4335660"/>
            <a:ext cx="4610100" cy="4875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FFFFFF"/>
                </a:solidFill>
                <a:latin typeface="Plus Jakarta Sans SemiBold"/>
                <a:ea typeface="Plus Jakarta Sans SemiBold"/>
                <a:cs typeface="Plus Jakarta Sans SemiBold"/>
                <a:sym typeface="Plus Jakarta Sans SemiBold"/>
              </a:rPr>
              <a:t>Institutional-Grade Dossiers:</a:t>
            </a:r>
            <a:r>
              <a:rPr b="0" i="0" lang="en-US" sz="1200" u="none" cap="none" strike="noStrike">
                <a:solidFill>
                  <a:srgbClr val="9CA3AF"/>
                </a:solidFill>
                <a:latin typeface="Plus Jakarta Sans"/>
                <a:ea typeface="Plus Jakarta Sans"/>
                <a:cs typeface="Plus Jakarta Sans"/>
                <a:sym typeface="Plus Jakarta Sans"/>
              </a:rPr>
              <a:t> Compile beautiful, ready-to-share PDF briefings for operations and insurance.</a:t>
            </a:r>
            <a:endParaRPr/>
          </a:p>
        </p:txBody>
      </p:sp>
      <p:pic>
        <p:nvPicPr>
          <p:cNvPr descr="image.png" id="127" name="Google Shape;127;p15"/>
          <p:cNvPicPr preferRelativeResize="0"/>
          <p:nvPr/>
        </p:nvPicPr>
        <p:blipFill rotWithShape="1">
          <a:blip r:embed="rId7">
            <a:alphaModFix/>
          </a:blip>
          <a:srcRect b="0" l="0" r="0" t="0"/>
          <a:stretch/>
        </p:blipFill>
        <p:spPr>
          <a:xfrm>
            <a:off x="581025" y="3031926"/>
            <a:ext cx="171450" cy="200025"/>
          </a:xfrm>
          <a:prstGeom prst="rect">
            <a:avLst/>
          </a:prstGeom>
          <a:noFill/>
          <a:ln>
            <a:noFill/>
          </a:ln>
        </p:spPr>
      </p:pic>
      <p:pic>
        <p:nvPicPr>
          <p:cNvPr descr="image.png" id="128" name="Google Shape;128;p15"/>
          <p:cNvPicPr preferRelativeResize="0"/>
          <p:nvPr/>
        </p:nvPicPr>
        <p:blipFill rotWithShape="1">
          <a:blip r:embed="rId8">
            <a:alphaModFix/>
          </a:blip>
          <a:srcRect b="0" l="0" r="0" t="0"/>
          <a:stretch/>
        </p:blipFill>
        <p:spPr>
          <a:xfrm>
            <a:off x="581025" y="3690937"/>
            <a:ext cx="190500" cy="200025"/>
          </a:xfrm>
          <a:prstGeom prst="rect">
            <a:avLst/>
          </a:prstGeom>
          <a:noFill/>
          <a:ln>
            <a:noFill/>
          </a:ln>
        </p:spPr>
      </p:pic>
      <p:pic>
        <p:nvPicPr>
          <p:cNvPr descr="image.png" id="129" name="Google Shape;129;p15"/>
          <p:cNvPicPr preferRelativeResize="0"/>
          <p:nvPr/>
        </p:nvPicPr>
        <p:blipFill rotWithShape="1">
          <a:blip r:embed="rId9">
            <a:alphaModFix/>
          </a:blip>
          <a:srcRect b="0" l="0" r="0" t="0"/>
          <a:stretch/>
        </p:blipFill>
        <p:spPr>
          <a:xfrm>
            <a:off x="581025" y="4349948"/>
            <a:ext cx="190500" cy="2000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pic>
        <p:nvPicPr>
          <p:cNvPr descr="image.png" id="134" name="Google Shape;134;p1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35" name="Google Shape;135;p16"/>
          <p:cNvPicPr preferRelativeResize="0"/>
          <p:nvPr/>
        </p:nvPicPr>
        <p:blipFill rotWithShape="1">
          <a:blip r:embed="rId4">
            <a:alphaModFix/>
          </a:blip>
          <a:srcRect b="0" l="0" r="0" t="0"/>
          <a:stretch/>
        </p:blipFill>
        <p:spPr>
          <a:xfrm>
            <a:off x="676275" y="2117377"/>
            <a:ext cx="3422600" cy="2771775"/>
          </a:xfrm>
          <a:prstGeom prst="rect">
            <a:avLst/>
          </a:prstGeom>
          <a:noFill/>
          <a:ln>
            <a:noFill/>
          </a:ln>
        </p:spPr>
      </p:pic>
      <p:pic>
        <p:nvPicPr>
          <p:cNvPr descr="image.png" id="136" name="Google Shape;136;p16"/>
          <p:cNvPicPr preferRelativeResize="0"/>
          <p:nvPr/>
        </p:nvPicPr>
        <p:blipFill rotWithShape="1">
          <a:blip r:embed="rId5">
            <a:alphaModFix/>
          </a:blip>
          <a:srcRect b="0" l="0" r="0" t="0"/>
          <a:stretch/>
        </p:blipFill>
        <p:spPr>
          <a:xfrm>
            <a:off x="4384625" y="2117377"/>
            <a:ext cx="3422600" cy="2771775"/>
          </a:xfrm>
          <a:prstGeom prst="rect">
            <a:avLst/>
          </a:prstGeom>
          <a:noFill/>
          <a:ln>
            <a:noFill/>
          </a:ln>
        </p:spPr>
      </p:pic>
      <p:pic>
        <p:nvPicPr>
          <p:cNvPr descr="image.png" id="137" name="Google Shape;137;p16"/>
          <p:cNvPicPr preferRelativeResize="0"/>
          <p:nvPr/>
        </p:nvPicPr>
        <p:blipFill rotWithShape="1">
          <a:blip r:embed="rId5">
            <a:alphaModFix/>
          </a:blip>
          <a:srcRect b="0" l="0" r="0" t="0"/>
          <a:stretch/>
        </p:blipFill>
        <p:spPr>
          <a:xfrm>
            <a:off x="8092975" y="2117377"/>
            <a:ext cx="3422600" cy="2771775"/>
          </a:xfrm>
          <a:prstGeom prst="rect">
            <a:avLst/>
          </a:prstGeom>
          <a:noFill/>
          <a:ln>
            <a:noFill/>
          </a:ln>
        </p:spPr>
      </p:pic>
      <p:pic>
        <p:nvPicPr>
          <p:cNvPr descr="image.png" id="138" name="Google Shape;138;p16"/>
          <p:cNvPicPr preferRelativeResize="0"/>
          <p:nvPr/>
        </p:nvPicPr>
        <p:blipFill rotWithShape="1">
          <a:blip r:embed="rId6">
            <a:alphaModFix/>
          </a:blip>
          <a:srcRect b="0" l="0" r="0" t="0"/>
          <a:stretch/>
        </p:blipFill>
        <p:spPr>
          <a:xfrm>
            <a:off x="9525" y="6107608"/>
            <a:ext cx="12172950" cy="740866"/>
          </a:xfrm>
          <a:prstGeom prst="rect">
            <a:avLst/>
          </a:prstGeom>
          <a:noFill/>
          <a:ln>
            <a:noFill/>
          </a:ln>
        </p:spPr>
      </p:pic>
      <p:sp>
        <p:nvSpPr>
          <p:cNvPr id="139" name="Google Shape;139;p16"/>
          <p:cNvSpPr txBox="1"/>
          <p:nvPr/>
        </p:nvSpPr>
        <p:spPr>
          <a:xfrm>
            <a:off x="533400" y="6231433"/>
            <a:ext cx="11363325" cy="1333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825" u="none" cap="none" strike="noStrike">
                <a:solidFill>
                  <a:srgbClr val="14B8A6"/>
                </a:solidFill>
                <a:latin typeface="Space Grotesk"/>
                <a:ea typeface="Space Grotesk"/>
                <a:cs typeface="Space Grotesk"/>
                <a:sym typeface="Space Grotesk"/>
              </a:rPr>
              <a:t>SPEAKER NOTES</a:t>
            </a:r>
            <a:endParaRPr/>
          </a:p>
        </p:txBody>
      </p:sp>
      <p:sp>
        <p:nvSpPr>
          <p:cNvPr id="140" name="Google Shape;140;p16"/>
          <p:cNvSpPr txBox="1"/>
          <p:nvPr/>
        </p:nvSpPr>
        <p:spPr>
          <a:xfrm>
            <a:off x="295275" y="6402883"/>
            <a:ext cx="11601450" cy="331291"/>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0" i="0" lang="en-US" sz="900" u="none" cap="none" strike="noStrike">
                <a:solidFill>
                  <a:srgbClr val="9CA3AF"/>
                </a:solidFill>
                <a:latin typeface="Plus Jakarta Sans"/>
                <a:ea typeface="Plus Jakarta Sans"/>
                <a:cs typeface="Plus Jakarta Sans"/>
                <a:sym typeface="Plus Jakarta Sans"/>
              </a:rPr>
              <a:t>Our technical foundation is rock solid. We build on an asynchronous, edge-computed architecture utilizing client-side SHA-256 hashing. This means identity verification is processed locally before any cloud transactions take place. This lightweight, serverless framework guarantees enterprise scaling and absolute zero-knowledge security.</a:t>
            </a:r>
            <a:endParaRPr/>
          </a:p>
        </p:txBody>
      </p:sp>
      <p:pic>
        <p:nvPicPr>
          <p:cNvPr descr="image.png" id="141" name="Google Shape;141;p16"/>
          <p:cNvPicPr preferRelativeResize="0"/>
          <p:nvPr/>
        </p:nvPicPr>
        <p:blipFill rotWithShape="1">
          <a:blip r:embed="rId7">
            <a:alphaModFix/>
          </a:blip>
          <a:srcRect b="0" l="0" r="0" t="0"/>
          <a:stretch/>
        </p:blipFill>
        <p:spPr>
          <a:xfrm>
            <a:off x="295275" y="6240958"/>
            <a:ext cx="161925" cy="114300"/>
          </a:xfrm>
          <a:prstGeom prst="rect">
            <a:avLst/>
          </a:prstGeom>
          <a:noFill/>
          <a:ln>
            <a:noFill/>
          </a:ln>
        </p:spPr>
      </p:pic>
      <p:pic>
        <p:nvPicPr>
          <p:cNvPr descr="image.png" id="142" name="Google Shape;142;p16"/>
          <p:cNvPicPr preferRelativeResize="0"/>
          <p:nvPr/>
        </p:nvPicPr>
        <p:blipFill rotWithShape="1">
          <a:blip r:embed="rId8">
            <a:alphaModFix/>
          </a:blip>
          <a:srcRect b="0" l="0" r="0" t="0"/>
          <a:stretch/>
        </p:blipFill>
        <p:spPr>
          <a:xfrm>
            <a:off x="971550" y="2460277"/>
            <a:ext cx="571500" cy="571500"/>
          </a:xfrm>
          <a:prstGeom prst="rect">
            <a:avLst/>
          </a:prstGeom>
          <a:noFill/>
          <a:ln>
            <a:noFill/>
          </a:ln>
        </p:spPr>
      </p:pic>
      <p:sp>
        <p:nvSpPr>
          <p:cNvPr id="143" name="Google Shape;143;p16"/>
          <p:cNvSpPr txBox="1"/>
          <p:nvPr/>
        </p:nvSpPr>
        <p:spPr>
          <a:xfrm>
            <a:off x="971550" y="3222277"/>
            <a:ext cx="2270283" cy="2952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14B8A6"/>
                </a:solidFill>
                <a:latin typeface="Space Grotesk SemiBold"/>
                <a:ea typeface="Space Grotesk SemiBold"/>
                <a:cs typeface="Space Grotesk SemiBold"/>
                <a:sym typeface="Space Grotesk SemiBold"/>
              </a:rPr>
              <a:t>Client-Side Hashing</a:t>
            </a:r>
            <a:endParaRPr/>
          </a:p>
        </p:txBody>
      </p:sp>
      <p:sp>
        <p:nvSpPr>
          <p:cNvPr id="144" name="Google Shape;144;p16"/>
          <p:cNvSpPr txBox="1"/>
          <p:nvPr/>
        </p:nvSpPr>
        <p:spPr>
          <a:xfrm>
            <a:off x="971550" y="3631852"/>
            <a:ext cx="283205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9CA3AF"/>
                </a:solidFill>
                <a:latin typeface="Plus Jakarta Sans"/>
                <a:ea typeface="Plus Jakarta Sans"/>
                <a:cs typeface="Plus Jakarta Sans"/>
                <a:sym typeface="Plus Jakarta Sans"/>
              </a:rPr>
              <a:t>Ingestion pipeline utilizes local SHA-256 client hashing. Zero raw text or critical credentials ever travel through external servers or third-party networks.</a:t>
            </a:r>
            <a:endParaRPr/>
          </a:p>
        </p:txBody>
      </p:sp>
      <p:pic>
        <p:nvPicPr>
          <p:cNvPr descr="image.png" id="145" name="Google Shape;145;p16"/>
          <p:cNvPicPr preferRelativeResize="0"/>
          <p:nvPr/>
        </p:nvPicPr>
        <p:blipFill rotWithShape="1">
          <a:blip r:embed="rId9">
            <a:alphaModFix/>
          </a:blip>
          <a:srcRect b="0" l="0" r="0" t="0"/>
          <a:stretch/>
        </p:blipFill>
        <p:spPr>
          <a:xfrm>
            <a:off x="4679900" y="2460277"/>
            <a:ext cx="571500" cy="571500"/>
          </a:xfrm>
          <a:prstGeom prst="rect">
            <a:avLst/>
          </a:prstGeom>
          <a:noFill/>
          <a:ln>
            <a:noFill/>
          </a:ln>
        </p:spPr>
      </p:pic>
      <p:sp>
        <p:nvSpPr>
          <p:cNvPr id="146" name="Google Shape;146;p16"/>
          <p:cNvSpPr txBox="1"/>
          <p:nvPr/>
        </p:nvSpPr>
        <p:spPr>
          <a:xfrm>
            <a:off x="4679900" y="3222277"/>
            <a:ext cx="2190273" cy="2952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14B8A6"/>
                </a:solidFill>
                <a:latin typeface="Space Grotesk SemiBold"/>
                <a:ea typeface="Space Grotesk SemiBold"/>
                <a:cs typeface="Space Grotesk SemiBold"/>
                <a:sym typeface="Space Grotesk SemiBold"/>
              </a:rPr>
              <a:t>Edge Worker Cloud</a:t>
            </a:r>
            <a:endParaRPr/>
          </a:p>
        </p:txBody>
      </p:sp>
      <p:sp>
        <p:nvSpPr>
          <p:cNvPr id="147" name="Google Shape;147;p16"/>
          <p:cNvSpPr txBox="1"/>
          <p:nvPr/>
        </p:nvSpPr>
        <p:spPr>
          <a:xfrm>
            <a:off x="4679900" y="3631852"/>
            <a:ext cx="283205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9CA3AF"/>
                </a:solidFill>
                <a:latin typeface="Plus Jakarta Sans"/>
                <a:ea typeface="Plus Jakarta Sans"/>
                <a:cs typeface="Plus Jakarta Sans"/>
                <a:sym typeface="Plus Jakarta Sans"/>
              </a:rPr>
              <a:t>Highly scalable, asynchronous edge environment engineered via React, TypeScript, and Supabase database handlers for real-time risk orchestration.</a:t>
            </a:r>
            <a:endParaRPr/>
          </a:p>
        </p:txBody>
      </p:sp>
      <p:pic>
        <p:nvPicPr>
          <p:cNvPr descr="image.png" id="148" name="Google Shape;148;p16"/>
          <p:cNvPicPr preferRelativeResize="0"/>
          <p:nvPr/>
        </p:nvPicPr>
        <p:blipFill rotWithShape="1">
          <a:blip r:embed="rId10">
            <a:alphaModFix/>
          </a:blip>
          <a:srcRect b="0" l="0" r="0" t="0"/>
          <a:stretch/>
        </p:blipFill>
        <p:spPr>
          <a:xfrm>
            <a:off x="8388250" y="2460277"/>
            <a:ext cx="571500" cy="571500"/>
          </a:xfrm>
          <a:prstGeom prst="rect">
            <a:avLst/>
          </a:prstGeom>
          <a:noFill/>
          <a:ln>
            <a:noFill/>
          </a:ln>
        </p:spPr>
      </p:pic>
      <p:sp>
        <p:nvSpPr>
          <p:cNvPr id="149" name="Google Shape;149;p16"/>
          <p:cNvSpPr txBox="1"/>
          <p:nvPr/>
        </p:nvSpPr>
        <p:spPr>
          <a:xfrm>
            <a:off x="8388250" y="3222277"/>
            <a:ext cx="2250281" cy="2952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14B8A6"/>
                </a:solidFill>
                <a:latin typeface="Space Grotesk SemiBold"/>
                <a:ea typeface="Space Grotesk SemiBold"/>
                <a:cs typeface="Space Grotesk SemiBold"/>
                <a:sym typeface="Space Grotesk SemiBold"/>
              </a:rPr>
              <a:t>Active Aggregators</a:t>
            </a:r>
            <a:endParaRPr/>
          </a:p>
        </p:txBody>
      </p:sp>
      <p:sp>
        <p:nvSpPr>
          <p:cNvPr id="150" name="Google Shape;150;p16"/>
          <p:cNvSpPr txBox="1"/>
          <p:nvPr/>
        </p:nvSpPr>
        <p:spPr>
          <a:xfrm>
            <a:off x="8388250" y="3631852"/>
            <a:ext cx="283205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9CA3AF"/>
                </a:solidFill>
                <a:latin typeface="Plus Jakarta Sans"/>
                <a:ea typeface="Plus Jakarta Sans"/>
                <a:cs typeface="Plus Jakarta Sans"/>
                <a:sym typeface="Plus Jakarta Sans"/>
              </a:rPr>
              <a:t>Instant secure API queries securely sync live external threat intel repositories—including HaveIBeenPwned API—without identity exposure.</a:t>
            </a:r>
            <a:endParaRPr/>
          </a:p>
        </p:txBody>
      </p:sp>
      <p:pic>
        <p:nvPicPr>
          <p:cNvPr descr="image.png" id="151" name="Google Shape;151;p16"/>
          <p:cNvPicPr preferRelativeResize="0"/>
          <p:nvPr/>
        </p:nvPicPr>
        <p:blipFill rotWithShape="1">
          <a:blip r:embed="rId11">
            <a:alphaModFix/>
          </a:blip>
          <a:srcRect b="0" l="0" r="0" t="0"/>
          <a:stretch/>
        </p:blipFill>
        <p:spPr>
          <a:xfrm>
            <a:off x="1104900" y="2593627"/>
            <a:ext cx="304800" cy="304800"/>
          </a:xfrm>
          <a:prstGeom prst="rect">
            <a:avLst/>
          </a:prstGeom>
          <a:noFill/>
          <a:ln>
            <a:noFill/>
          </a:ln>
        </p:spPr>
      </p:pic>
      <p:pic>
        <p:nvPicPr>
          <p:cNvPr descr="image.png" id="152" name="Google Shape;152;p16"/>
          <p:cNvPicPr preferRelativeResize="0"/>
          <p:nvPr/>
        </p:nvPicPr>
        <p:blipFill rotWithShape="1">
          <a:blip r:embed="rId12">
            <a:alphaModFix/>
          </a:blip>
          <a:srcRect b="0" l="0" r="0" t="0"/>
          <a:stretch/>
        </p:blipFill>
        <p:spPr>
          <a:xfrm>
            <a:off x="4813250" y="2593627"/>
            <a:ext cx="304800" cy="304800"/>
          </a:xfrm>
          <a:prstGeom prst="rect">
            <a:avLst/>
          </a:prstGeom>
          <a:noFill/>
          <a:ln>
            <a:noFill/>
          </a:ln>
        </p:spPr>
      </p:pic>
      <p:pic>
        <p:nvPicPr>
          <p:cNvPr descr="image.png" id="153" name="Google Shape;153;p16"/>
          <p:cNvPicPr preferRelativeResize="0"/>
          <p:nvPr/>
        </p:nvPicPr>
        <p:blipFill rotWithShape="1">
          <a:blip r:embed="rId13">
            <a:alphaModFix/>
          </a:blip>
          <a:srcRect b="0" l="0" r="0" t="0"/>
          <a:stretch/>
        </p:blipFill>
        <p:spPr>
          <a:xfrm>
            <a:off x="8521600" y="2593627"/>
            <a:ext cx="304800" cy="304800"/>
          </a:xfrm>
          <a:prstGeom prst="rect">
            <a:avLst/>
          </a:prstGeom>
          <a:noFill/>
          <a:ln>
            <a:noFill/>
          </a:ln>
        </p:spPr>
      </p:pic>
      <p:sp>
        <p:nvSpPr>
          <p:cNvPr id="154" name="Google Shape;154;p16"/>
          <p:cNvSpPr txBox="1"/>
          <p:nvPr/>
        </p:nvSpPr>
        <p:spPr>
          <a:xfrm>
            <a:off x="819150" y="485775"/>
            <a:ext cx="11231403" cy="4342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2850" u="none" cap="none" strike="noStrike">
                <a:solidFill>
                  <a:srgbClr val="FFFFFF"/>
                </a:solidFill>
                <a:latin typeface="Space Grotesk"/>
                <a:ea typeface="Space Grotesk"/>
                <a:cs typeface="Space Grotesk"/>
                <a:sym typeface="Space Grotesk"/>
              </a:rPr>
              <a:t>Zero-Trust Solution Architecture</a:t>
            </a:r>
            <a:endParaRPr/>
          </a:p>
        </p:txBody>
      </p:sp>
      <p:sp>
        <p:nvSpPr>
          <p:cNvPr id="155" name="Google Shape;155;p16"/>
          <p:cNvSpPr/>
          <p:nvPr/>
        </p:nvSpPr>
        <p:spPr>
          <a:xfrm>
            <a:off x="676275" y="485775"/>
            <a:ext cx="38100" cy="434280"/>
          </a:xfrm>
          <a:prstGeom prst="rect">
            <a:avLst/>
          </a:prstGeom>
          <a:solidFill>
            <a:srgbClr val="14B8A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pic>
        <p:nvPicPr>
          <p:cNvPr descr="image.png" id="160" name="Google Shape;160;p1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61" name="Google Shape;161;p17"/>
          <p:cNvPicPr preferRelativeResize="0"/>
          <p:nvPr/>
        </p:nvPicPr>
        <p:blipFill rotWithShape="1">
          <a:blip r:embed="rId4">
            <a:alphaModFix/>
          </a:blip>
          <a:srcRect b="0" l="0" r="0" t="0"/>
          <a:stretch/>
        </p:blipFill>
        <p:spPr>
          <a:xfrm>
            <a:off x="676275" y="1931640"/>
            <a:ext cx="5229225" cy="3143250"/>
          </a:xfrm>
          <a:prstGeom prst="rect">
            <a:avLst/>
          </a:prstGeom>
          <a:noFill/>
          <a:ln>
            <a:noFill/>
          </a:ln>
        </p:spPr>
      </p:pic>
      <p:pic>
        <p:nvPicPr>
          <p:cNvPr descr="image.png" id="162" name="Google Shape;162;p17"/>
          <p:cNvPicPr preferRelativeResize="0"/>
          <p:nvPr/>
        </p:nvPicPr>
        <p:blipFill rotWithShape="1">
          <a:blip r:embed="rId4">
            <a:alphaModFix/>
          </a:blip>
          <a:srcRect b="0" l="0" r="0" t="0"/>
          <a:stretch/>
        </p:blipFill>
        <p:spPr>
          <a:xfrm>
            <a:off x="6286500" y="1931640"/>
            <a:ext cx="5229225" cy="3143250"/>
          </a:xfrm>
          <a:prstGeom prst="rect">
            <a:avLst/>
          </a:prstGeom>
          <a:noFill/>
          <a:ln>
            <a:noFill/>
          </a:ln>
        </p:spPr>
      </p:pic>
      <p:pic>
        <p:nvPicPr>
          <p:cNvPr descr="image.png" id="163" name="Google Shape;163;p17"/>
          <p:cNvPicPr preferRelativeResize="0"/>
          <p:nvPr/>
        </p:nvPicPr>
        <p:blipFill rotWithShape="1">
          <a:blip r:embed="rId5">
            <a:alphaModFix/>
          </a:blip>
          <a:srcRect b="0" l="0" r="0" t="0"/>
          <a:stretch/>
        </p:blipFill>
        <p:spPr>
          <a:xfrm>
            <a:off x="9525" y="6107608"/>
            <a:ext cx="12172950" cy="740866"/>
          </a:xfrm>
          <a:prstGeom prst="rect">
            <a:avLst/>
          </a:prstGeom>
          <a:noFill/>
          <a:ln>
            <a:noFill/>
          </a:ln>
        </p:spPr>
      </p:pic>
      <p:sp>
        <p:nvSpPr>
          <p:cNvPr id="164" name="Google Shape;164;p17"/>
          <p:cNvSpPr txBox="1"/>
          <p:nvPr/>
        </p:nvSpPr>
        <p:spPr>
          <a:xfrm>
            <a:off x="533400" y="6231433"/>
            <a:ext cx="11363325" cy="1333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825" u="none" cap="none" strike="noStrike">
                <a:solidFill>
                  <a:srgbClr val="14B8A6"/>
                </a:solidFill>
                <a:latin typeface="Space Grotesk"/>
                <a:ea typeface="Space Grotesk"/>
                <a:cs typeface="Space Grotesk"/>
                <a:sym typeface="Space Grotesk"/>
              </a:rPr>
              <a:t>SPEAKER NOTES</a:t>
            </a:r>
            <a:endParaRPr/>
          </a:p>
        </p:txBody>
      </p:sp>
      <p:sp>
        <p:nvSpPr>
          <p:cNvPr id="165" name="Google Shape;165;p17"/>
          <p:cNvSpPr txBox="1"/>
          <p:nvPr/>
        </p:nvSpPr>
        <p:spPr>
          <a:xfrm>
            <a:off x="295275" y="6402883"/>
            <a:ext cx="11601450" cy="331291"/>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0" i="0" lang="en-US" sz="900" u="none" cap="none" strike="noStrike">
                <a:solidFill>
                  <a:srgbClr val="9CA3AF"/>
                </a:solidFill>
                <a:latin typeface="Plus Jakarta Sans"/>
                <a:ea typeface="Plus Jakarta Sans"/>
                <a:cs typeface="Plus Jakarta Sans"/>
                <a:sym typeface="Plus Jakarta Sans"/>
              </a:rPr>
              <a:t>E-VARA's business model is built for fast expansion. We target high-margin buyers: elite security services, private wealth family offices, and cyber insurance providers who want to reduce claims payouts. We monetize on three layers: recurring subscription tiers, custom white-labeled enterprise structures, and API integration tools.</a:t>
            </a:r>
            <a:endParaRPr/>
          </a:p>
        </p:txBody>
      </p:sp>
      <p:pic>
        <p:nvPicPr>
          <p:cNvPr descr="image.png" id="166" name="Google Shape;166;p17"/>
          <p:cNvPicPr preferRelativeResize="0"/>
          <p:nvPr/>
        </p:nvPicPr>
        <p:blipFill rotWithShape="1">
          <a:blip r:embed="rId6">
            <a:alphaModFix/>
          </a:blip>
          <a:srcRect b="0" l="0" r="0" t="0"/>
          <a:stretch/>
        </p:blipFill>
        <p:spPr>
          <a:xfrm>
            <a:off x="295275" y="6240958"/>
            <a:ext cx="161925" cy="114300"/>
          </a:xfrm>
          <a:prstGeom prst="rect">
            <a:avLst/>
          </a:prstGeom>
          <a:noFill/>
          <a:ln>
            <a:noFill/>
          </a:ln>
        </p:spPr>
      </p:pic>
      <p:sp>
        <p:nvSpPr>
          <p:cNvPr id="167" name="Google Shape;167;p17"/>
          <p:cNvSpPr txBox="1"/>
          <p:nvPr/>
        </p:nvSpPr>
        <p:spPr>
          <a:xfrm>
            <a:off x="1019175" y="2274540"/>
            <a:ext cx="4770596"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50" u="none" cap="none" strike="noStrike">
                <a:solidFill>
                  <a:srgbClr val="14B8A6"/>
                </a:solidFill>
                <a:latin typeface="Space Grotesk SemiBold"/>
                <a:ea typeface="Space Grotesk SemiBold"/>
                <a:cs typeface="Space Grotesk SemiBold"/>
                <a:sym typeface="Space Grotesk SemiBold"/>
              </a:rPr>
              <a:t>Target Markets</a:t>
            </a:r>
            <a:endParaRPr/>
          </a:p>
        </p:txBody>
      </p:sp>
      <p:sp>
        <p:nvSpPr>
          <p:cNvPr id="168" name="Google Shape;168;p17"/>
          <p:cNvSpPr/>
          <p:nvPr/>
        </p:nvSpPr>
        <p:spPr>
          <a:xfrm>
            <a:off x="1019175" y="2636490"/>
            <a:ext cx="4543425" cy="9525"/>
          </a:xfrm>
          <a:prstGeom prst="rect">
            <a:avLst/>
          </a:prstGeom>
          <a:solidFill>
            <a:srgbClr val="FEFEF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9" name="Google Shape;169;p17"/>
          <p:cNvSpPr txBox="1"/>
          <p:nvPr/>
        </p:nvSpPr>
        <p:spPr>
          <a:xfrm>
            <a:off x="6629400" y="2274540"/>
            <a:ext cx="4770596"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50" u="none" cap="none" strike="noStrike">
                <a:solidFill>
                  <a:srgbClr val="14B8A6"/>
                </a:solidFill>
                <a:latin typeface="Space Grotesk SemiBold"/>
                <a:ea typeface="Space Grotesk SemiBold"/>
                <a:cs typeface="Space Grotesk SemiBold"/>
                <a:sym typeface="Space Grotesk SemiBold"/>
              </a:rPr>
              <a:t>Monetization Streams</a:t>
            </a:r>
            <a:endParaRPr/>
          </a:p>
        </p:txBody>
      </p:sp>
      <p:sp>
        <p:nvSpPr>
          <p:cNvPr id="170" name="Google Shape;170;p17"/>
          <p:cNvSpPr/>
          <p:nvPr/>
        </p:nvSpPr>
        <p:spPr>
          <a:xfrm>
            <a:off x="6629400" y="2636490"/>
            <a:ext cx="4543425" cy="9525"/>
          </a:xfrm>
          <a:prstGeom prst="rect">
            <a:avLst/>
          </a:prstGeom>
          <a:solidFill>
            <a:srgbClr val="FEFEF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1" name="Google Shape;171;p17"/>
          <p:cNvSpPr txBox="1"/>
          <p:nvPr/>
        </p:nvSpPr>
        <p:spPr>
          <a:xfrm>
            <a:off x="1247775" y="2931765"/>
            <a:ext cx="4314825" cy="457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FFFFFF"/>
                </a:solidFill>
                <a:latin typeface="Plus Jakarta Sans SemiBold"/>
                <a:ea typeface="Plus Jakarta Sans SemiBold"/>
                <a:cs typeface="Plus Jakarta Sans SemiBold"/>
                <a:sym typeface="Plus Jakarta Sans SemiBold"/>
              </a:rPr>
              <a:t>Family Offices &amp; VIPs:</a:t>
            </a:r>
            <a:r>
              <a:rPr b="0" i="0" lang="en-US" sz="1125" u="none" cap="none" strike="noStrike">
                <a:solidFill>
                  <a:srgbClr val="9CA3AF"/>
                </a:solidFill>
                <a:latin typeface="Plus Jakarta Sans"/>
                <a:ea typeface="Plus Jakarta Sans"/>
                <a:cs typeface="Plus Jakarta Sans"/>
                <a:sym typeface="Plus Jakarta Sans"/>
              </a:rPr>
              <a:t> High-net-worth teams requiring private, hyper-customized corporate shields.</a:t>
            </a:r>
            <a:endParaRPr/>
          </a:p>
        </p:txBody>
      </p:sp>
      <p:sp>
        <p:nvSpPr>
          <p:cNvPr id="172" name="Google Shape;172;p17"/>
          <p:cNvSpPr txBox="1"/>
          <p:nvPr/>
        </p:nvSpPr>
        <p:spPr>
          <a:xfrm>
            <a:off x="1247775" y="3531840"/>
            <a:ext cx="4314825" cy="457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FFFFFF"/>
                </a:solidFill>
                <a:latin typeface="Plus Jakarta Sans SemiBold"/>
                <a:ea typeface="Plus Jakarta Sans SemiBold"/>
                <a:cs typeface="Plus Jakarta Sans SemiBold"/>
                <a:sym typeface="Plus Jakarta Sans SemiBold"/>
              </a:rPr>
              <a:t>Executive Protection:</a:t>
            </a:r>
            <a:r>
              <a:rPr b="0" i="0" lang="en-US" sz="1125" u="none" cap="none" strike="noStrike">
                <a:solidFill>
                  <a:srgbClr val="9CA3AF"/>
                </a:solidFill>
                <a:latin typeface="Plus Jakarta Sans"/>
                <a:ea typeface="Plus Jakarta Sans"/>
                <a:cs typeface="Plus Jakarta Sans"/>
                <a:sym typeface="Plus Jakarta Sans"/>
              </a:rPr>
              <a:t> Enhancing physical protective details with proactive digital counter-intelligence suites.</a:t>
            </a:r>
            <a:endParaRPr/>
          </a:p>
        </p:txBody>
      </p:sp>
      <p:sp>
        <p:nvSpPr>
          <p:cNvPr id="173" name="Google Shape;173;p17"/>
          <p:cNvSpPr txBox="1"/>
          <p:nvPr/>
        </p:nvSpPr>
        <p:spPr>
          <a:xfrm>
            <a:off x="1247775" y="4131915"/>
            <a:ext cx="4314825" cy="457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FFFFFF"/>
                </a:solidFill>
                <a:latin typeface="Plus Jakarta Sans SemiBold"/>
                <a:ea typeface="Plus Jakarta Sans SemiBold"/>
                <a:cs typeface="Plus Jakarta Sans SemiBold"/>
                <a:sym typeface="Plus Jakarta Sans SemiBold"/>
              </a:rPr>
              <a:t>Cyber Insurers:</a:t>
            </a:r>
            <a:r>
              <a:rPr b="0" i="0" lang="en-US" sz="1125" u="none" cap="none" strike="noStrike">
                <a:solidFill>
                  <a:srgbClr val="9CA3AF"/>
                </a:solidFill>
                <a:latin typeface="Plus Jakarta Sans"/>
                <a:ea typeface="Plus Jakarta Sans"/>
                <a:cs typeface="Plus Jakarta Sans"/>
                <a:sym typeface="Plus Jakarta Sans"/>
              </a:rPr>
              <a:t> Underwriting risk reduction metrics via validated real-time team threat indexing.</a:t>
            </a:r>
            <a:endParaRPr/>
          </a:p>
        </p:txBody>
      </p:sp>
      <p:sp>
        <p:nvSpPr>
          <p:cNvPr id="174" name="Google Shape;174;p17"/>
          <p:cNvSpPr txBox="1"/>
          <p:nvPr/>
        </p:nvSpPr>
        <p:spPr>
          <a:xfrm>
            <a:off x="6858000" y="2931765"/>
            <a:ext cx="4314825" cy="457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FFFFFF"/>
                </a:solidFill>
                <a:latin typeface="Plus Jakarta Sans SemiBold"/>
                <a:ea typeface="Plus Jakarta Sans SemiBold"/>
                <a:cs typeface="Plus Jakarta Sans SemiBold"/>
                <a:sym typeface="Plus Jakarta Sans SemiBold"/>
              </a:rPr>
              <a:t>B2B / B2B2C SaaS:</a:t>
            </a:r>
            <a:r>
              <a:rPr b="0" i="0" lang="en-US" sz="1125" u="none" cap="none" strike="noStrike">
                <a:solidFill>
                  <a:srgbClr val="9CA3AF"/>
                </a:solidFill>
                <a:latin typeface="Plus Jakarta Sans"/>
                <a:ea typeface="Plus Jakarta Sans"/>
                <a:cs typeface="Plus Jakarta Sans"/>
                <a:sym typeface="Plus Jakarta Sans"/>
              </a:rPr>
              <a:t> Highly predictable recurring subscriptions categorized by seat tiers.</a:t>
            </a:r>
            <a:endParaRPr/>
          </a:p>
        </p:txBody>
      </p:sp>
      <p:sp>
        <p:nvSpPr>
          <p:cNvPr id="175" name="Google Shape;175;p17"/>
          <p:cNvSpPr txBox="1"/>
          <p:nvPr/>
        </p:nvSpPr>
        <p:spPr>
          <a:xfrm>
            <a:off x="6858000" y="3531840"/>
            <a:ext cx="4314825" cy="457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FFFFFF"/>
                </a:solidFill>
                <a:latin typeface="Plus Jakarta Sans SemiBold"/>
                <a:ea typeface="Plus Jakarta Sans SemiBold"/>
                <a:cs typeface="Plus Jakarta Sans SemiBold"/>
                <a:sym typeface="Plus Jakarta Sans SemiBold"/>
              </a:rPr>
              <a:t>Enterprise Licensing:</a:t>
            </a:r>
            <a:r>
              <a:rPr b="0" i="0" lang="en-US" sz="1125" u="none" cap="none" strike="noStrike">
                <a:solidFill>
                  <a:srgbClr val="9CA3AF"/>
                </a:solidFill>
                <a:latin typeface="Plus Jakarta Sans"/>
                <a:ea typeface="Plus Jakarta Sans"/>
                <a:cs typeface="Plus Jakarta Sans"/>
                <a:sym typeface="Plus Jakarta Sans"/>
              </a:rPr>
              <a:t> Managed institutional security plans containing active white-label styling controls.</a:t>
            </a:r>
            <a:endParaRPr/>
          </a:p>
        </p:txBody>
      </p:sp>
      <p:sp>
        <p:nvSpPr>
          <p:cNvPr id="176" name="Google Shape;176;p17"/>
          <p:cNvSpPr txBox="1"/>
          <p:nvPr/>
        </p:nvSpPr>
        <p:spPr>
          <a:xfrm>
            <a:off x="6858000" y="4131915"/>
            <a:ext cx="4314825" cy="457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FFFFFF"/>
                </a:solidFill>
                <a:latin typeface="Plus Jakarta Sans SemiBold"/>
                <a:ea typeface="Plus Jakarta Sans SemiBold"/>
                <a:cs typeface="Plus Jakarta Sans SemiBold"/>
                <a:sym typeface="Plus Jakarta Sans SemiBold"/>
              </a:rPr>
              <a:t>Threat API Access:</a:t>
            </a:r>
            <a:r>
              <a:rPr b="0" i="0" lang="en-US" sz="1125" u="none" cap="none" strike="noStrike">
                <a:solidFill>
                  <a:srgbClr val="9CA3AF"/>
                </a:solidFill>
                <a:latin typeface="Plus Jakarta Sans"/>
                <a:ea typeface="Plus Jakarta Sans"/>
                <a:cs typeface="Plus Jakarta Sans"/>
                <a:sym typeface="Plus Jakarta Sans"/>
              </a:rPr>
              <a:t> Premium programmatic developer channels linking E-VARA databases into live SOC workflows.</a:t>
            </a:r>
            <a:endParaRPr/>
          </a:p>
        </p:txBody>
      </p:sp>
      <p:sp>
        <p:nvSpPr>
          <p:cNvPr id="177" name="Google Shape;177;p17"/>
          <p:cNvSpPr txBox="1"/>
          <p:nvPr/>
        </p:nvSpPr>
        <p:spPr>
          <a:xfrm>
            <a:off x="1019175" y="2931765"/>
            <a:ext cx="142875" cy="22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14B8A6"/>
                </a:solidFill>
                <a:latin typeface="Plus Jakarta Sans"/>
                <a:ea typeface="Plus Jakarta Sans"/>
                <a:cs typeface="Plus Jakarta Sans"/>
                <a:sym typeface="Plus Jakarta Sans"/>
              </a:rPr>
              <a:t>→</a:t>
            </a:r>
            <a:endParaRPr/>
          </a:p>
        </p:txBody>
      </p:sp>
      <p:sp>
        <p:nvSpPr>
          <p:cNvPr id="178" name="Google Shape;178;p17"/>
          <p:cNvSpPr txBox="1"/>
          <p:nvPr/>
        </p:nvSpPr>
        <p:spPr>
          <a:xfrm>
            <a:off x="1019175" y="3531840"/>
            <a:ext cx="142875" cy="22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14B8A6"/>
                </a:solidFill>
                <a:latin typeface="Plus Jakarta Sans"/>
                <a:ea typeface="Plus Jakarta Sans"/>
                <a:cs typeface="Plus Jakarta Sans"/>
                <a:sym typeface="Plus Jakarta Sans"/>
              </a:rPr>
              <a:t>→</a:t>
            </a:r>
            <a:endParaRPr/>
          </a:p>
        </p:txBody>
      </p:sp>
      <p:sp>
        <p:nvSpPr>
          <p:cNvPr id="179" name="Google Shape;179;p17"/>
          <p:cNvSpPr txBox="1"/>
          <p:nvPr/>
        </p:nvSpPr>
        <p:spPr>
          <a:xfrm>
            <a:off x="1019175" y="4131915"/>
            <a:ext cx="142875" cy="22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14B8A6"/>
                </a:solidFill>
                <a:latin typeface="Plus Jakarta Sans"/>
                <a:ea typeface="Plus Jakarta Sans"/>
                <a:cs typeface="Plus Jakarta Sans"/>
                <a:sym typeface="Plus Jakarta Sans"/>
              </a:rPr>
              <a:t>→</a:t>
            </a:r>
            <a:endParaRPr/>
          </a:p>
        </p:txBody>
      </p:sp>
      <p:sp>
        <p:nvSpPr>
          <p:cNvPr id="180" name="Google Shape;180;p17"/>
          <p:cNvSpPr txBox="1"/>
          <p:nvPr/>
        </p:nvSpPr>
        <p:spPr>
          <a:xfrm>
            <a:off x="6629400" y="2931765"/>
            <a:ext cx="142875" cy="22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14B8A6"/>
                </a:solidFill>
                <a:latin typeface="Plus Jakarta Sans"/>
                <a:ea typeface="Plus Jakarta Sans"/>
                <a:cs typeface="Plus Jakarta Sans"/>
                <a:sym typeface="Plus Jakarta Sans"/>
              </a:rPr>
              <a:t>→</a:t>
            </a:r>
            <a:endParaRPr/>
          </a:p>
        </p:txBody>
      </p:sp>
      <p:sp>
        <p:nvSpPr>
          <p:cNvPr id="181" name="Google Shape;181;p17"/>
          <p:cNvSpPr txBox="1"/>
          <p:nvPr/>
        </p:nvSpPr>
        <p:spPr>
          <a:xfrm>
            <a:off x="6629400" y="3531840"/>
            <a:ext cx="142875" cy="22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14B8A6"/>
                </a:solidFill>
                <a:latin typeface="Plus Jakarta Sans"/>
                <a:ea typeface="Plus Jakarta Sans"/>
                <a:cs typeface="Plus Jakarta Sans"/>
                <a:sym typeface="Plus Jakarta Sans"/>
              </a:rPr>
              <a:t>→</a:t>
            </a:r>
            <a:endParaRPr/>
          </a:p>
        </p:txBody>
      </p:sp>
      <p:sp>
        <p:nvSpPr>
          <p:cNvPr id="182" name="Google Shape;182;p17"/>
          <p:cNvSpPr txBox="1"/>
          <p:nvPr/>
        </p:nvSpPr>
        <p:spPr>
          <a:xfrm>
            <a:off x="6629400" y="4131915"/>
            <a:ext cx="142875" cy="22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14B8A6"/>
                </a:solidFill>
                <a:latin typeface="Plus Jakarta Sans"/>
                <a:ea typeface="Plus Jakarta Sans"/>
                <a:cs typeface="Plus Jakarta Sans"/>
                <a:sym typeface="Plus Jakarta Sans"/>
              </a:rPr>
              <a:t>→</a:t>
            </a:r>
            <a:endParaRPr/>
          </a:p>
        </p:txBody>
      </p:sp>
      <p:sp>
        <p:nvSpPr>
          <p:cNvPr id="183" name="Google Shape;183;p17"/>
          <p:cNvSpPr txBox="1"/>
          <p:nvPr/>
        </p:nvSpPr>
        <p:spPr>
          <a:xfrm>
            <a:off x="819150" y="485775"/>
            <a:ext cx="11231403" cy="4342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2850" u="none" cap="none" strike="noStrike">
                <a:solidFill>
                  <a:srgbClr val="FFFFFF"/>
                </a:solidFill>
                <a:latin typeface="Space Grotesk"/>
                <a:ea typeface="Space Grotesk"/>
                <a:cs typeface="Space Grotesk"/>
                <a:sym typeface="Space Grotesk"/>
              </a:rPr>
              <a:t>Commercial Model &amp; Monetization</a:t>
            </a:r>
            <a:endParaRPr/>
          </a:p>
        </p:txBody>
      </p:sp>
      <p:sp>
        <p:nvSpPr>
          <p:cNvPr id="184" name="Google Shape;184;p17"/>
          <p:cNvSpPr/>
          <p:nvPr/>
        </p:nvSpPr>
        <p:spPr>
          <a:xfrm>
            <a:off x="676275" y="485775"/>
            <a:ext cx="38100" cy="434280"/>
          </a:xfrm>
          <a:prstGeom prst="rect">
            <a:avLst/>
          </a:prstGeom>
          <a:solidFill>
            <a:srgbClr val="14B8A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pic>
        <p:nvPicPr>
          <p:cNvPr descr="image.png" id="189" name="Google Shape;189;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90" name="Google Shape;190;p18"/>
          <p:cNvPicPr preferRelativeResize="0"/>
          <p:nvPr/>
        </p:nvPicPr>
        <p:blipFill rotWithShape="1">
          <a:blip r:embed="rId4">
            <a:alphaModFix/>
          </a:blip>
          <a:srcRect b="0" l="0" r="0" t="0"/>
          <a:stretch/>
        </p:blipFill>
        <p:spPr>
          <a:xfrm>
            <a:off x="676275" y="3493740"/>
            <a:ext cx="10839450" cy="19050"/>
          </a:xfrm>
          <a:prstGeom prst="rect">
            <a:avLst/>
          </a:prstGeom>
          <a:noFill/>
          <a:ln>
            <a:noFill/>
          </a:ln>
        </p:spPr>
      </p:pic>
      <p:pic>
        <p:nvPicPr>
          <p:cNvPr descr="image.png" id="191" name="Google Shape;191;p18"/>
          <p:cNvPicPr preferRelativeResize="0"/>
          <p:nvPr/>
        </p:nvPicPr>
        <p:blipFill rotWithShape="1">
          <a:blip r:embed="rId5">
            <a:alphaModFix/>
          </a:blip>
          <a:srcRect b="0" l="0" r="0" t="0"/>
          <a:stretch/>
        </p:blipFill>
        <p:spPr>
          <a:xfrm>
            <a:off x="9525" y="6107608"/>
            <a:ext cx="12172950" cy="740866"/>
          </a:xfrm>
          <a:prstGeom prst="rect">
            <a:avLst/>
          </a:prstGeom>
          <a:noFill/>
          <a:ln>
            <a:noFill/>
          </a:ln>
        </p:spPr>
      </p:pic>
      <p:sp>
        <p:nvSpPr>
          <p:cNvPr id="192" name="Google Shape;192;p18"/>
          <p:cNvSpPr txBox="1"/>
          <p:nvPr/>
        </p:nvSpPr>
        <p:spPr>
          <a:xfrm>
            <a:off x="533400" y="6231433"/>
            <a:ext cx="11363325" cy="1333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825" u="none" cap="none" strike="noStrike">
                <a:solidFill>
                  <a:srgbClr val="14B8A6"/>
                </a:solidFill>
                <a:latin typeface="Space Grotesk"/>
                <a:ea typeface="Space Grotesk"/>
                <a:cs typeface="Space Grotesk"/>
                <a:sym typeface="Space Grotesk"/>
              </a:rPr>
              <a:t>SPEAKER NOTES</a:t>
            </a:r>
            <a:endParaRPr/>
          </a:p>
        </p:txBody>
      </p:sp>
      <p:sp>
        <p:nvSpPr>
          <p:cNvPr id="193" name="Google Shape;193;p18"/>
          <p:cNvSpPr txBox="1"/>
          <p:nvPr/>
        </p:nvSpPr>
        <p:spPr>
          <a:xfrm>
            <a:off x="295275" y="6402883"/>
            <a:ext cx="11601450" cy="331291"/>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0" i="0" lang="en-US" sz="900" u="none" cap="none" strike="noStrike">
                <a:solidFill>
                  <a:srgbClr val="9CA3AF"/>
                </a:solidFill>
                <a:latin typeface="Plus Jakarta Sans"/>
                <a:ea typeface="Plus Jakarta Sans"/>
                <a:cs typeface="Plus Jakarta Sans"/>
                <a:sym typeface="Plus Jakarta Sans"/>
              </a:rPr>
              <a:t>Our upcoming development plan is organized into four logical segments. We begin with client-side cryptographic engine scaling, immediately transition to enterprise co-selling and channel partnerships in Q2, proceed to deeper advanced threat scraping integrations in Q3, and culminate with collaborative corporate risk environments in Q4.</a:t>
            </a:r>
            <a:endParaRPr/>
          </a:p>
        </p:txBody>
      </p:sp>
      <p:pic>
        <p:nvPicPr>
          <p:cNvPr descr="image.png" id="194" name="Google Shape;194;p18"/>
          <p:cNvPicPr preferRelativeResize="0"/>
          <p:nvPr/>
        </p:nvPicPr>
        <p:blipFill rotWithShape="1">
          <a:blip r:embed="rId6">
            <a:alphaModFix/>
          </a:blip>
          <a:srcRect b="0" l="0" r="0" t="0"/>
          <a:stretch/>
        </p:blipFill>
        <p:spPr>
          <a:xfrm>
            <a:off x="295275" y="6240958"/>
            <a:ext cx="161925" cy="114300"/>
          </a:xfrm>
          <a:prstGeom prst="rect">
            <a:avLst/>
          </a:prstGeom>
          <a:noFill/>
          <a:ln>
            <a:noFill/>
          </a:ln>
        </p:spPr>
      </p:pic>
      <p:sp>
        <p:nvSpPr>
          <p:cNvPr id="195" name="Google Shape;195;p18"/>
          <p:cNvSpPr txBox="1"/>
          <p:nvPr/>
        </p:nvSpPr>
        <p:spPr>
          <a:xfrm>
            <a:off x="616658" y="3741390"/>
            <a:ext cx="2503906" cy="2476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500" u="none" cap="none" strike="noStrike">
                <a:solidFill>
                  <a:srgbClr val="14B8A6"/>
                </a:solidFill>
                <a:latin typeface="Space Grotesk SemiBold"/>
                <a:ea typeface="Space Grotesk SemiBold"/>
                <a:cs typeface="Space Grotesk SemiBold"/>
                <a:sym typeface="Space Grotesk SemiBold"/>
              </a:rPr>
              <a:t>Q1 - Core Polish</a:t>
            </a:r>
            <a:endParaRPr/>
          </a:p>
        </p:txBody>
      </p:sp>
      <p:sp>
        <p:nvSpPr>
          <p:cNvPr id="196" name="Google Shape;196;p18"/>
          <p:cNvSpPr txBox="1"/>
          <p:nvPr/>
        </p:nvSpPr>
        <p:spPr>
          <a:xfrm>
            <a:off x="676275" y="4036665"/>
            <a:ext cx="2384673" cy="559891"/>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1050" u="none" cap="none" strike="noStrike">
                <a:solidFill>
                  <a:srgbClr val="9CA3AF"/>
                </a:solidFill>
                <a:latin typeface="Plus Jakarta Sans"/>
                <a:ea typeface="Plus Jakarta Sans"/>
                <a:cs typeface="Plus Jakarta Sans"/>
                <a:sym typeface="Plus Jakarta Sans"/>
              </a:rPr>
              <a:t>Upgrade client-side secure cryptographic hashing modules and dashboard interface latency.</a:t>
            </a:r>
            <a:endParaRPr/>
          </a:p>
        </p:txBody>
      </p:sp>
      <p:sp>
        <p:nvSpPr>
          <p:cNvPr id="197" name="Google Shape;197;p18"/>
          <p:cNvSpPr txBox="1"/>
          <p:nvPr/>
        </p:nvSpPr>
        <p:spPr>
          <a:xfrm>
            <a:off x="3434867" y="2409973"/>
            <a:ext cx="2503906" cy="2476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500" u="none" cap="none" strike="noStrike">
                <a:solidFill>
                  <a:srgbClr val="14B8A6"/>
                </a:solidFill>
                <a:latin typeface="Space Grotesk SemiBold"/>
                <a:ea typeface="Space Grotesk SemiBold"/>
                <a:cs typeface="Space Grotesk SemiBold"/>
                <a:sym typeface="Space Grotesk SemiBold"/>
              </a:rPr>
              <a:t>Q2 - Enterprise Push</a:t>
            </a:r>
            <a:endParaRPr/>
          </a:p>
        </p:txBody>
      </p:sp>
      <p:sp>
        <p:nvSpPr>
          <p:cNvPr id="198" name="Google Shape;198;p18"/>
          <p:cNvSpPr txBox="1"/>
          <p:nvPr/>
        </p:nvSpPr>
        <p:spPr>
          <a:xfrm>
            <a:off x="3494484" y="2705248"/>
            <a:ext cx="2384673" cy="559891"/>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1050" u="none" cap="none" strike="noStrike">
                <a:solidFill>
                  <a:srgbClr val="9CA3AF"/>
                </a:solidFill>
                <a:latin typeface="Plus Jakarta Sans"/>
                <a:ea typeface="Plus Jakarta Sans"/>
                <a:cs typeface="Plus Jakarta Sans"/>
                <a:sym typeface="Plus Jakarta Sans"/>
              </a:rPr>
              <a:t>Onboard top physical executive security networks to scale premium high-net-worth customer acquisition.</a:t>
            </a:r>
            <a:endParaRPr/>
          </a:p>
        </p:txBody>
      </p:sp>
      <p:sp>
        <p:nvSpPr>
          <p:cNvPr id="199" name="Google Shape;199;p18"/>
          <p:cNvSpPr txBox="1"/>
          <p:nvPr/>
        </p:nvSpPr>
        <p:spPr>
          <a:xfrm>
            <a:off x="6253076" y="3741390"/>
            <a:ext cx="2503906" cy="2476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500" u="none" cap="none" strike="noStrike">
                <a:solidFill>
                  <a:srgbClr val="14B8A6"/>
                </a:solidFill>
                <a:latin typeface="Space Grotesk SemiBold"/>
                <a:ea typeface="Space Grotesk SemiBold"/>
                <a:cs typeface="Space Grotesk SemiBold"/>
                <a:sym typeface="Space Grotesk SemiBold"/>
              </a:rPr>
              <a:t>Q3 - Deep Intel</a:t>
            </a:r>
            <a:endParaRPr/>
          </a:p>
        </p:txBody>
      </p:sp>
      <p:sp>
        <p:nvSpPr>
          <p:cNvPr id="200" name="Google Shape;200;p18"/>
          <p:cNvSpPr txBox="1"/>
          <p:nvPr/>
        </p:nvSpPr>
        <p:spPr>
          <a:xfrm>
            <a:off x="6312693" y="4036665"/>
            <a:ext cx="2384673" cy="559891"/>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1050" u="none" cap="none" strike="noStrike">
                <a:solidFill>
                  <a:srgbClr val="9CA3AF"/>
                </a:solidFill>
                <a:latin typeface="Plus Jakarta Sans"/>
                <a:ea typeface="Plus Jakarta Sans"/>
                <a:cs typeface="Plus Jakarta Sans"/>
                <a:sym typeface="Plus Jakarta Sans"/>
              </a:rPr>
              <a:t>Construct customized proprietary zero-knowledge dark-web APIs and zero-exposure search scrapers.</a:t>
            </a:r>
            <a:endParaRPr/>
          </a:p>
        </p:txBody>
      </p:sp>
      <p:sp>
        <p:nvSpPr>
          <p:cNvPr id="201" name="Google Shape;201;p18"/>
          <p:cNvSpPr txBox="1"/>
          <p:nvPr/>
        </p:nvSpPr>
        <p:spPr>
          <a:xfrm>
            <a:off x="9071286" y="2409973"/>
            <a:ext cx="2503906" cy="2476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500" u="none" cap="none" strike="noStrike">
                <a:solidFill>
                  <a:srgbClr val="14B8A6"/>
                </a:solidFill>
                <a:latin typeface="Space Grotesk SemiBold"/>
                <a:ea typeface="Space Grotesk SemiBold"/>
                <a:cs typeface="Space Grotesk SemiBold"/>
                <a:sym typeface="Space Grotesk SemiBold"/>
              </a:rPr>
              <a:t>Q4 - Global Shield</a:t>
            </a:r>
            <a:endParaRPr/>
          </a:p>
        </p:txBody>
      </p:sp>
      <p:sp>
        <p:nvSpPr>
          <p:cNvPr id="202" name="Google Shape;202;p18"/>
          <p:cNvSpPr txBox="1"/>
          <p:nvPr/>
        </p:nvSpPr>
        <p:spPr>
          <a:xfrm>
            <a:off x="9130903" y="2705248"/>
            <a:ext cx="2384673" cy="559891"/>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1050" u="none" cap="none" strike="noStrike">
                <a:solidFill>
                  <a:srgbClr val="9CA3AF"/>
                </a:solidFill>
                <a:latin typeface="Plus Jakarta Sans"/>
                <a:ea typeface="Plus Jakarta Sans"/>
                <a:cs typeface="Plus Jakarta Sans"/>
                <a:sym typeface="Plus Jakarta Sans"/>
              </a:rPr>
              <a:t>Deploy multi-channel instant threat mitigation channels and secure group workspace environments.</a:t>
            </a:r>
            <a:endParaRPr/>
          </a:p>
        </p:txBody>
      </p:sp>
      <p:sp>
        <p:nvSpPr>
          <p:cNvPr id="203" name="Google Shape;203;p18"/>
          <p:cNvSpPr txBox="1"/>
          <p:nvPr/>
        </p:nvSpPr>
        <p:spPr>
          <a:xfrm>
            <a:off x="819150" y="485775"/>
            <a:ext cx="11231403" cy="4342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2850" u="none" cap="none" strike="noStrike">
                <a:solidFill>
                  <a:srgbClr val="FFFFFF"/>
                </a:solidFill>
                <a:latin typeface="Space Grotesk"/>
                <a:ea typeface="Space Grotesk"/>
                <a:cs typeface="Space Grotesk"/>
                <a:sym typeface="Space Grotesk"/>
              </a:rPr>
              <a:t>Product Scaling &amp; Roadmap</a:t>
            </a:r>
            <a:endParaRPr/>
          </a:p>
        </p:txBody>
      </p:sp>
      <p:sp>
        <p:nvSpPr>
          <p:cNvPr id="204" name="Google Shape;204;p18"/>
          <p:cNvSpPr/>
          <p:nvPr/>
        </p:nvSpPr>
        <p:spPr>
          <a:xfrm>
            <a:off x="676275" y="485775"/>
            <a:ext cx="38100" cy="434280"/>
          </a:xfrm>
          <a:prstGeom prst="rect">
            <a:avLst/>
          </a:prstGeom>
          <a:solidFill>
            <a:srgbClr val="14B8A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5" name="Google Shape;205;p18"/>
          <p:cNvSpPr/>
          <p:nvPr/>
        </p:nvSpPr>
        <p:spPr>
          <a:xfrm>
            <a:off x="1792411" y="3427065"/>
            <a:ext cx="152400" cy="152400"/>
          </a:xfrm>
          <a:prstGeom prst="roundRect">
            <a:avLst>
              <a:gd fmla="val 50000" name="adj"/>
            </a:avLst>
          </a:prstGeom>
          <a:solidFill>
            <a:srgbClr val="030712"/>
          </a:solidFill>
          <a:ln cap="flat" cmpd="sng" w="38100">
            <a:solidFill>
              <a:srgbClr val="14B8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6" name="Google Shape;206;p18"/>
          <p:cNvSpPr/>
          <p:nvPr/>
        </p:nvSpPr>
        <p:spPr>
          <a:xfrm>
            <a:off x="4610620" y="3427065"/>
            <a:ext cx="152400" cy="152400"/>
          </a:xfrm>
          <a:prstGeom prst="roundRect">
            <a:avLst>
              <a:gd fmla="val 50000" name="adj"/>
            </a:avLst>
          </a:prstGeom>
          <a:solidFill>
            <a:srgbClr val="030712"/>
          </a:solidFill>
          <a:ln cap="flat" cmpd="sng" w="38100">
            <a:solidFill>
              <a:srgbClr val="14B8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7" name="Google Shape;207;p18"/>
          <p:cNvSpPr/>
          <p:nvPr/>
        </p:nvSpPr>
        <p:spPr>
          <a:xfrm>
            <a:off x="7428830" y="3427065"/>
            <a:ext cx="152400" cy="152400"/>
          </a:xfrm>
          <a:prstGeom prst="roundRect">
            <a:avLst>
              <a:gd fmla="val 50000" name="adj"/>
            </a:avLst>
          </a:prstGeom>
          <a:solidFill>
            <a:srgbClr val="030712"/>
          </a:solidFill>
          <a:ln cap="flat" cmpd="sng" w="38100">
            <a:solidFill>
              <a:srgbClr val="14B8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8" name="Google Shape;208;p18"/>
          <p:cNvSpPr/>
          <p:nvPr/>
        </p:nvSpPr>
        <p:spPr>
          <a:xfrm>
            <a:off x="10247039" y="3427065"/>
            <a:ext cx="152400" cy="152400"/>
          </a:xfrm>
          <a:prstGeom prst="roundRect">
            <a:avLst>
              <a:gd fmla="val 50000" name="adj"/>
            </a:avLst>
          </a:prstGeom>
          <a:solidFill>
            <a:srgbClr val="030712"/>
          </a:solidFill>
          <a:ln cap="flat" cmpd="sng" w="38100">
            <a:solidFill>
              <a:srgbClr val="14B8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pic>
        <p:nvPicPr>
          <p:cNvPr descr="image.png" id="213" name="Google Shape;213;p1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14" name="Google Shape;214;p19"/>
          <p:cNvPicPr preferRelativeResize="0"/>
          <p:nvPr/>
        </p:nvPicPr>
        <p:blipFill rotWithShape="1">
          <a:blip r:embed="rId4">
            <a:alphaModFix/>
          </a:blip>
          <a:srcRect b="0" l="0" r="0" t="0"/>
          <a:stretch/>
        </p:blipFill>
        <p:spPr>
          <a:xfrm>
            <a:off x="1719262" y="1931640"/>
            <a:ext cx="3143250" cy="3143250"/>
          </a:xfrm>
          <a:prstGeom prst="rect">
            <a:avLst/>
          </a:prstGeom>
          <a:noFill/>
          <a:ln>
            <a:noFill/>
          </a:ln>
        </p:spPr>
      </p:pic>
      <p:pic>
        <p:nvPicPr>
          <p:cNvPr descr="image.png" id="215" name="Google Shape;215;p19"/>
          <p:cNvPicPr preferRelativeResize="0"/>
          <p:nvPr/>
        </p:nvPicPr>
        <p:blipFill rotWithShape="1">
          <a:blip r:embed="rId5">
            <a:alphaModFix/>
          </a:blip>
          <a:srcRect b="0" l="0" r="0" t="0"/>
          <a:stretch/>
        </p:blipFill>
        <p:spPr>
          <a:xfrm>
            <a:off x="9525" y="6107608"/>
            <a:ext cx="12172950" cy="740866"/>
          </a:xfrm>
          <a:prstGeom prst="rect">
            <a:avLst/>
          </a:prstGeom>
          <a:noFill/>
          <a:ln>
            <a:noFill/>
          </a:ln>
        </p:spPr>
      </p:pic>
      <p:sp>
        <p:nvSpPr>
          <p:cNvPr id="216" name="Google Shape;216;p19"/>
          <p:cNvSpPr txBox="1"/>
          <p:nvPr/>
        </p:nvSpPr>
        <p:spPr>
          <a:xfrm>
            <a:off x="533400" y="6231433"/>
            <a:ext cx="11363325" cy="1333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825" u="none" cap="none" strike="noStrike">
                <a:solidFill>
                  <a:srgbClr val="14B8A6"/>
                </a:solidFill>
                <a:latin typeface="Space Grotesk"/>
                <a:ea typeface="Space Grotesk"/>
                <a:cs typeface="Space Grotesk"/>
                <a:sym typeface="Space Grotesk"/>
              </a:rPr>
              <a:t>SPEAKER NOTES</a:t>
            </a:r>
            <a:endParaRPr/>
          </a:p>
        </p:txBody>
      </p:sp>
      <p:sp>
        <p:nvSpPr>
          <p:cNvPr id="217" name="Google Shape;217;p19"/>
          <p:cNvSpPr txBox="1"/>
          <p:nvPr/>
        </p:nvSpPr>
        <p:spPr>
          <a:xfrm>
            <a:off x="295275" y="6402883"/>
            <a:ext cx="11601450" cy="331291"/>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0" i="0" lang="en-US" sz="900" u="none" cap="none" strike="noStrike">
                <a:solidFill>
                  <a:srgbClr val="9CA3AF"/>
                </a:solidFill>
                <a:latin typeface="Plus Jakarta Sans"/>
                <a:ea typeface="Plus Jakarta Sans"/>
                <a:cs typeface="Plus Jakarta Sans"/>
                <a:sym typeface="Plus Jakarta Sans"/>
              </a:rPr>
              <a:t>To deliver on our goals, we are actively recruiting world-class engineering, sales, and analytics talent. We are looking for a Cryptographic Engineer to secure our zero-knowledge engine, an Enterprise Accounts Director to manage family office opportunities, and a Threat Analyst to expand our telemetry. We welcome your support and partnership. Thank you.</a:t>
            </a:r>
            <a:endParaRPr/>
          </a:p>
        </p:txBody>
      </p:sp>
      <p:pic>
        <p:nvPicPr>
          <p:cNvPr descr="image.png" id="218" name="Google Shape;218;p19"/>
          <p:cNvPicPr preferRelativeResize="0"/>
          <p:nvPr/>
        </p:nvPicPr>
        <p:blipFill rotWithShape="1">
          <a:blip r:embed="rId6">
            <a:alphaModFix/>
          </a:blip>
          <a:srcRect b="0" l="0" r="0" t="0"/>
          <a:stretch/>
        </p:blipFill>
        <p:spPr>
          <a:xfrm>
            <a:off x="295275" y="6240958"/>
            <a:ext cx="161925" cy="114300"/>
          </a:xfrm>
          <a:prstGeom prst="rect">
            <a:avLst/>
          </a:prstGeom>
          <a:noFill/>
          <a:ln>
            <a:noFill/>
          </a:ln>
        </p:spPr>
      </p:pic>
      <p:sp>
        <p:nvSpPr>
          <p:cNvPr id="219" name="Google Shape;219;p19"/>
          <p:cNvSpPr txBox="1"/>
          <p:nvPr/>
        </p:nvSpPr>
        <p:spPr>
          <a:xfrm>
            <a:off x="6286500" y="1727150"/>
            <a:ext cx="5490686" cy="2952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14B8A6"/>
                </a:solidFill>
                <a:latin typeface="Space Grotesk SemiBold"/>
                <a:ea typeface="Space Grotesk SemiBold"/>
                <a:cs typeface="Space Grotesk SemiBold"/>
                <a:sym typeface="Space Grotesk SemiBold"/>
              </a:rPr>
              <a:t>Scaling Cybersecurity Talents</a:t>
            </a:r>
            <a:endParaRPr/>
          </a:p>
        </p:txBody>
      </p:sp>
      <p:sp>
        <p:nvSpPr>
          <p:cNvPr id="220" name="Google Shape;220;p19"/>
          <p:cNvSpPr txBox="1"/>
          <p:nvPr/>
        </p:nvSpPr>
        <p:spPr>
          <a:xfrm>
            <a:off x="6286500" y="2136725"/>
            <a:ext cx="5229225" cy="9751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CA3AF"/>
                </a:solidFill>
                <a:latin typeface="Plus Jakarta Sans"/>
                <a:ea typeface="Plus Jakarta Sans"/>
                <a:cs typeface="Plus Jakarta Sans"/>
                <a:sym typeface="Plus Jakarta Sans"/>
              </a:rPr>
              <a:t>Guided by cyber intelligence veterans and software engineering pioneers. We are entering our next phase of rapid security deployment and are expanding our core structure across engineering, partnerships, and operations.</a:t>
            </a:r>
            <a:endParaRPr/>
          </a:p>
        </p:txBody>
      </p:sp>
      <p:pic>
        <p:nvPicPr>
          <p:cNvPr descr="image.png" id="221" name="Google Shape;221;p19"/>
          <p:cNvPicPr preferRelativeResize="0"/>
          <p:nvPr/>
        </p:nvPicPr>
        <p:blipFill rotWithShape="1">
          <a:blip r:embed="rId7">
            <a:alphaModFix/>
          </a:blip>
          <a:srcRect b="0" l="0" r="0" t="0"/>
          <a:stretch/>
        </p:blipFill>
        <p:spPr>
          <a:xfrm>
            <a:off x="1757362" y="1969740"/>
            <a:ext cx="3067050" cy="3067050"/>
          </a:xfrm>
          <a:prstGeom prst="rect">
            <a:avLst/>
          </a:prstGeom>
          <a:noFill/>
          <a:ln>
            <a:noFill/>
          </a:ln>
        </p:spPr>
      </p:pic>
      <p:sp>
        <p:nvSpPr>
          <p:cNvPr id="222" name="Google Shape;222;p19"/>
          <p:cNvSpPr txBox="1"/>
          <p:nvPr/>
        </p:nvSpPr>
        <p:spPr>
          <a:xfrm>
            <a:off x="6619875" y="3302347"/>
            <a:ext cx="4895850" cy="4875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FFFFFF"/>
                </a:solidFill>
                <a:latin typeface="Plus Jakarta Sans SemiBold"/>
                <a:ea typeface="Plus Jakarta Sans SemiBold"/>
                <a:cs typeface="Plus Jakarta Sans SemiBold"/>
                <a:sym typeface="Plus Jakarta Sans SemiBold"/>
              </a:rPr>
              <a:t>Lead Cryptographic Engineer:</a:t>
            </a:r>
            <a:r>
              <a:rPr b="0" i="0" lang="en-US" sz="1200" u="none" cap="none" strike="noStrike">
                <a:solidFill>
                  <a:srgbClr val="9CA3AF"/>
                </a:solidFill>
                <a:latin typeface="Plus Jakarta Sans"/>
                <a:ea typeface="Plus Jakarta Sans"/>
                <a:cs typeface="Plus Jakarta Sans"/>
                <a:sym typeface="Plus Jakarta Sans"/>
              </a:rPr>
              <a:t> Standardizing secure multi-party calculations &amp; hashing.</a:t>
            </a:r>
            <a:endParaRPr/>
          </a:p>
        </p:txBody>
      </p:sp>
      <p:sp>
        <p:nvSpPr>
          <p:cNvPr id="223" name="Google Shape;223;p19"/>
          <p:cNvSpPr txBox="1"/>
          <p:nvPr/>
        </p:nvSpPr>
        <p:spPr>
          <a:xfrm>
            <a:off x="6619875" y="3961358"/>
            <a:ext cx="4895850" cy="4875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FFFFFF"/>
                </a:solidFill>
                <a:latin typeface="Plus Jakarta Sans SemiBold"/>
                <a:ea typeface="Plus Jakarta Sans SemiBold"/>
                <a:cs typeface="Plus Jakarta Sans SemiBold"/>
                <a:sym typeface="Plus Jakarta Sans SemiBold"/>
              </a:rPr>
              <a:t>Director of Enterprise Accounts:</a:t>
            </a:r>
            <a:r>
              <a:rPr b="0" i="0" lang="en-US" sz="1200" u="none" cap="none" strike="noStrike">
                <a:solidFill>
                  <a:srgbClr val="9CA3AF"/>
                </a:solidFill>
                <a:latin typeface="Plus Jakarta Sans"/>
                <a:ea typeface="Plus Jakarta Sans"/>
                <a:cs typeface="Plus Jakarta Sans"/>
                <a:sym typeface="Plus Jakarta Sans"/>
              </a:rPr>
              <a:t> Capturing institutional cyber channels &amp; family offices.</a:t>
            </a:r>
            <a:endParaRPr/>
          </a:p>
        </p:txBody>
      </p:sp>
      <p:sp>
        <p:nvSpPr>
          <p:cNvPr id="224" name="Google Shape;224;p19"/>
          <p:cNvSpPr txBox="1"/>
          <p:nvPr/>
        </p:nvSpPr>
        <p:spPr>
          <a:xfrm>
            <a:off x="6619875" y="4620369"/>
            <a:ext cx="4895850" cy="4875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FFFFFF"/>
                </a:solidFill>
                <a:latin typeface="Plus Jakarta Sans SemiBold"/>
                <a:ea typeface="Plus Jakarta Sans SemiBold"/>
                <a:cs typeface="Plus Jakarta Sans SemiBold"/>
                <a:sym typeface="Plus Jakarta Sans SemiBold"/>
              </a:rPr>
              <a:t>Threat Intelligence Analyst:</a:t>
            </a:r>
            <a:r>
              <a:rPr b="0" i="0" lang="en-US" sz="1200" u="none" cap="none" strike="noStrike">
                <a:solidFill>
                  <a:srgbClr val="9CA3AF"/>
                </a:solidFill>
                <a:latin typeface="Plus Jakarta Sans"/>
                <a:ea typeface="Plus Jakarta Sans"/>
                <a:cs typeface="Plus Jakarta Sans"/>
                <a:sym typeface="Plus Jakarta Sans"/>
              </a:rPr>
              <a:t> Designing proprietary correlation structures &amp; database APIs.</a:t>
            </a:r>
            <a:endParaRPr/>
          </a:p>
        </p:txBody>
      </p:sp>
      <p:pic>
        <p:nvPicPr>
          <p:cNvPr descr="image.png" id="225" name="Google Shape;225;p19"/>
          <p:cNvPicPr preferRelativeResize="0"/>
          <p:nvPr/>
        </p:nvPicPr>
        <p:blipFill rotWithShape="1">
          <a:blip r:embed="rId8">
            <a:alphaModFix/>
          </a:blip>
          <a:srcRect b="0" l="0" r="0" t="0"/>
          <a:stretch/>
        </p:blipFill>
        <p:spPr>
          <a:xfrm>
            <a:off x="6286500" y="3316634"/>
            <a:ext cx="238125" cy="200025"/>
          </a:xfrm>
          <a:prstGeom prst="rect">
            <a:avLst/>
          </a:prstGeom>
          <a:noFill/>
          <a:ln>
            <a:noFill/>
          </a:ln>
        </p:spPr>
      </p:pic>
      <p:pic>
        <p:nvPicPr>
          <p:cNvPr descr="image.png" id="226" name="Google Shape;226;p19"/>
          <p:cNvPicPr preferRelativeResize="0"/>
          <p:nvPr/>
        </p:nvPicPr>
        <p:blipFill rotWithShape="1">
          <a:blip r:embed="rId8">
            <a:alphaModFix/>
          </a:blip>
          <a:srcRect b="0" l="0" r="0" t="0"/>
          <a:stretch/>
        </p:blipFill>
        <p:spPr>
          <a:xfrm>
            <a:off x="6286500" y="3975645"/>
            <a:ext cx="238125" cy="200025"/>
          </a:xfrm>
          <a:prstGeom prst="rect">
            <a:avLst/>
          </a:prstGeom>
          <a:noFill/>
          <a:ln>
            <a:noFill/>
          </a:ln>
        </p:spPr>
      </p:pic>
      <p:pic>
        <p:nvPicPr>
          <p:cNvPr descr="image.png" id="227" name="Google Shape;227;p19"/>
          <p:cNvPicPr preferRelativeResize="0"/>
          <p:nvPr/>
        </p:nvPicPr>
        <p:blipFill rotWithShape="1">
          <a:blip r:embed="rId8">
            <a:alphaModFix/>
          </a:blip>
          <a:srcRect b="0" l="0" r="0" t="0"/>
          <a:stretch/>
        </p:blipFill>
        <p:spPr>
          <a:xfrm>
            <a:off x="6286500" y="4634656"/>
            <a:ext cx="238125" cy="200025"/>
          </a:xfrm>
          <a:prstGeom prst="rect">
            <a:avLst/>
          </a:prstGeom>
          <a:noFill/>
          <a:ln>
            <a:noFill/>
          </a:ln>
        </p:spPr>
      </p:pic>
      <p:sp>
        <p:nvSpPr>
          <p:cNvPr id="228" name="Google Shape;228;p19"/>
          <p:cNvSpPr txBox="1"/>
          <p:nvPr/>
        </p:nvSpPr>
        <p:spPr>
          <a:xfrm>
            <a:off x="819150" y="485775"/>
            <a:ext cx="11231403" cy="4342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2850" u="none" cap="none" strike="noStrike">
                <a:solidFill>
                  <a:srgbClr val="FFFFFF"/>
                </a:solidFill>
                <a:latin typeface="Space Grotesk"/>
                <a:ea typeface="Space Grotesk"/>
                <a:cs typeface="Space Grotesk"/>
                <a:sym typeface="Space Grotesk"/>
              </a:rPr>
              <a:t>The Force Behind E-VARA</a:t>
            </a:r>
            <a:endParaRPr/>
          </a:p>
        </p:txBody>
      </p:sp>
      <p:sp>
        <p:nvSpPr>
          <p:cNvPr id="229" name="Google Shape;229;p19"/>
          <p:cNvSpPr/>
          <p:nvPr/>
        </p:nvSpPr>
        <p:spPr>
          <a:xfrm>
            <a:off x="676275" y="485775"/>
            <a:ext cx="38100" cy="434280"/>
          </a:xfrm>
          <a:prstGeom prst="rect">
            <a:avLst/>
          </a:prstGeom>
          <a:solidFill>
            <a:srgbClr val="14B8A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